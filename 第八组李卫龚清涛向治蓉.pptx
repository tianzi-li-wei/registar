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0.xml" ContentType="application/vnd.openxmlformats-officedocument.presentationml.notesSlide+xml"/>
  <Override PartName="/ppt/ink/ink5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92" r:id="rId4"/>
    <p:sldId id="260" r:id="rId5"/>
    <p:sldId id="293" r:id="rId6"/>
    <p:sldId id="267" r:id="rId7"/>
    <p:sldId id="291" r:id="rId8"/>
    <p:sldId id="294" r:id="rId9"/>
    <p:sldId id="273" r:id="rId10"/>
    <p:sldId id="298" r:id="rId11"/>
    <p:sldId id="282" r:id="rId12"/>
    <p:sldId id="295" r:id="rId13"/>
    <p:sldId id="301" r:id="rId14"/>
    <p:sldId id="300" r:id="rId15"/>
    <p:sldId id="302" r:id="rId16"/>
    <p:sldId id="296" r:id="rId17"/>
    <p:sldId id="310" r:id="rId18"/>
    <p:sldId id="311" r:id="rId19"/>
    <p:sldId id="312" r:id="rId20"/>
    <p:sldId id="297" r:id="rId21"/>
    <p:sldId id="309" r:id="rId22"/>
    <p:sldId id="307" r:id="rId23"/>
  </p:sldIdLst>
  <p:sldSz cx="12192000" cy="6858000"/>
  <p:notesSz cx="6858000" cy="9144000"/>
  <p:embeddedFontLst>
    <p:embeddedFont>
      <p:font typeface="Microsoft Yi Baiti" panose="03000500000000000000" pitchFamily="66" charset="0"/>
      <p:regular r:id="rId25"/>
    </p:embeddedFont>
    <p:embeddedFont>
      <p:font typeface="方正新综艺简体" panose="02010600030101010101" charset="-122"/>
      <p:regular r:id="rId26"/>
    </p:embeddedFont>
    <p:embeddedFont>
      <p:font typeface="Calibri Light" panose="020F0302020204030204" pitchFamily="34" charset="0"/>
      <p:regular r:id="rId27"/>
      <p:italic r:id="rId28"/>
    </p:embeddedFont>
    <p:embeddedFont>
      <p:font typeface="微软雅黑" panose="020B0503020204020204" pitchFamily="34" charset="-122"/>
      <p:regular r:id="rId29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</p:embeddedFontLst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14" userDrawn="1">
          <p15:clr>
            <a:srgbClr val="A4A3A4"/>
          </p15:clr>
        </p15:guide>
        <p15:guide id="4" orient="horz" pos="1049" userDrawn="1">
          <p15:clr>
            <a:srgbClr val="A4A3A4"/>
          </p15:clr>
        </p15:guide>
        <p15:guide id="5" orient="horz" pos="2636" userDrawn="1">
          <p15:clr>
            <a:srgbClr val="A4A3A4"/>
          </p15:clr>
        </p15:guide>
        <p15:guide id="6" pos="35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B1CE"/>
    <a:srgbClr val="F8F9FB"/>
    <a:srgbClr val="82B1CF"/>
    <a:srgbClr val="E0EDF4"/>
    <a:srgbClr val="467795"/>
    <a:srgbClr val="C7DEEB"/>
    <a:srgbClr val="F4B9AF"/>
    <a:srgbClr val="F6F7F9"/>
    <a:srgbClr val="83ADB2"/>
    <a:srgbClr val="F7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0" autoAdjust="0"/>
    <p:restoredTop sz="94660"/>
  </p:normalViewPr>
  <p:slideViewPr>
    <p:cSldViewPr snapToGrid="0" showGuides="1">
      <p:cViewPr varScale="1">
        <p:scale>
          <a:sx n="162" d="100"/>
          <a:sy n="162" d="100"/>
        </p:scale>
        <p:origin x="-264" y="-84"/>
      </p:cViewPr>
      <p:guideLst>
        <p:guide orient="horz" pos="2160"/>
        <p:guide orient="horz" pos="414"/>
        <p:guide orient="horz" pos="1049"/>
        <p:guide orient="horz" pos="2636"/>
        <p:guide pos="3840"/>
        <p:guide pos="359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gs" Target="tags/tag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0T14:24: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14679,'3636'0'0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0T14:27: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13911,'4868'0'0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0T14:27: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11377,'4110'17'0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0T14:28: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17122,'3282'88'0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0T14:29: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F94830-2DC0-4489-B634-91E8D4A29862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F6B9D-C1DE-4E21-B209-91CA6C27A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24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F6B9D-C1DE-4E21-B209-91CA6C27ADDE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6C1C4-C40C-448F-B2B9-1EC97CEFF2DE}" type="datetimeFigureOut">
              <a:rPr lang="zh-CN" altLang="en-US" smtClean="0"/>
              <a:t>2026/1/17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96825-7520-495E-B568-0359582AA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18.jpeg"/><Relationship Id="rId12" Type="http://schemas.openxmlformats.org/officeDocument/2006/relationships/customXml" Target="../ink/ink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11" Type="http://schemas.openxmlformats.org/officeDocument/2006/relationships/image" Target="../media/image20.png"/><Relationship Id="rId5" Type="http://schemas.openxmlformats.org/officeDocument/2006/relationships/image" Target="../media/image16.jpeg"/><Relationship Id="rId15" Type="http://schemas.openxmlformats.org/officeDocument/2006/relationships/image" Target="../media/image22.png"/><Relationship Id="rId10" Type="http://schemas.openxmlformats.org/officeDocument/2006/relationships/customXml" Target="../ink/ink2.xml"/><Relationship Id="rId4" Type="http://schemas.openxmlformats.org/officeDocument/2006/relationships/image" Target="../media/image15.jpeg"/><Relationship Id="rId9" Type="http://schemas.openxmlformats.org/officeDocument/2006/relationships/image" Target="../media/image19.png"/><Relationship Id="rId14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-28639" y="-25400"/>
            <a:ext cx="12220639" cy="6858001"/>
            <a:chOff x="-28641" y="-25402"/>
            <a:chExt cx="12220639" cy="6889153"/>
          </a:xfrm>
        </p:grpSpPr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3048792" y="-3102835"/>
              <a:ext cx="4100902" cy="10255767"/>
            </a:xfrm>
            <a:prstGeom prst="rect">
              <a:avLst/>
            </a:prstGeom>
          </p:spPr>
        </p:pic>
        <p:sp>
          <p:nvSpPr>
            <p:cNvPr id="38" name="矩形 37"/>
            <p:cNvSpPr/>
            <p:nvPr/>
          </p:nvSpPr>
          <p:spPr>
            <a:xfrm>
              <a:off x="-28641" y="5749"/>
              <a:ext cx="12220639" cy="6858002"/>
            </a:xfrm>
            <a:prstGeom prst="rect">
              <a:avLst/>
            </a:prstGeom>
            <a:gradFill>
              <a:gsLst>
                <a:gs pos="0">
                  <a:schemeClr val="bg1">
                    <a:alpha val="77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39" y="2577962"/>
            <a:ext cx="5512745" cy="42800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17770" y="2630301"/>
            <a:ext cx="54908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rgbClr val="467795"/>
                </a:solidFill>
                <a:latin typeface="方正新综艺简体" panose="02010601030101010101" pitchFamily="2" charset="-122"/>
                <a:ea typeface="方正新综艺简体" panose="02010601030101010101" pitchFamily="2" charset="-122"/>
              </a:rPr>
              <a:t>选课系统汇报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5012017" y="2313214"/>
            <a:ext cx="756287" cy="584062"/>
            <a:chOff x="4788568" y="1540043"/>
            <a:chExt cx="1215190" cy="938462"/>
          </a:xfrm>
        </p:grpSpPr>
        <p:cxnSp>
          <p:nvCxnSpPr>
            <p:cNvPr id="8" name="直接连接符 7"/>
            <p:cNvCxnSpPr/>
            <p:nvPr/>
          </p:nvCxnSpPr>
          <p:spPr>
            <a:xfrm flipV="1">
              <a:off x="5101389" y="1540043"/>
              <a:ext cx="0" cy="938462"/>
            </a:xfrm>
            <a:prstGeom prst="line">
              <a:avLst/>
            </a:prstGeom>
            <a:ln w="12700">
              <a:solidFill>
                <a:srgbClr val="E0E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4788568" y="1756611"/>
              <a:ext cx="1215190" cy="0"/>
            </a:xfrm>
            <a:prstGeom prst="line">
              <a:avLst/>
            </a:prstGeom>
            <a:ln w="12700">
              <a:solidFill>
                <a:srgbClr val="E0E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490713" y="4149989"/>
            <a:ext cx="933838" cy="375833"/>
            <a:chOff x="5490713" y="4149989"/>
            <a:chExt cx="1280358" cy="385282"/>
          </a:xfrm>
        </p:grpSpPr>
        <p:sp>
          <p:nvSpPr>
            <p:cNvPr id="16" name="圆角矩形 15"/>
            <p:cNvSpPr/>
            <p:nvPr/>
          </p:nvSpPr>
          <p:spPr>
            <a:xfrm>
              <a:off x="5490713" y="4149989"/>
              <a:ext cx="1280358" cy="375833"/>
            </a:xfrm>
            <a:prstGeom prst="roundRect">
              <a:avLst/>
            </a:prstGeom>
            <a:solidFill>
              <a:srgbClr val="82B1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534075" y="4165939"/>
              <a:ext cx="11936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李卫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562321" y="4145380"/>
            <a:ext cx="933838" cy="389892"/>
            <a:chOff x="6591611" y="4145380"/>
            <a:chExt cx="1280358" cy="389430"/>
          </a:xfrm>
        </p:grpSpPr>
        <p:sp>
          <p:nvSpPr>
            <p:cNvPr id="17" name="圆角矩形 16"/>
            <p:cNvSpPr/>
            <p:nvPr/>
          </p:nvSpPr>
          <p:spPr>
            <a:xfrm>
              <a:off x="6591611" y="4145380"/>
              <a:ext cx="1280358" cy="375833"/>
            </a:xfrm>
            <a:prstGeom prst="roundRect">
              <a:avLst/>
            </a:prstGeom>
            <a:solidFill>
              <a:srgbClr val="82B1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629962" y="4165478"/>
              <a:ext cx="11936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龚清涛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65556" y="4136758"/>
            <a:ext cx="933838" cy="398514"/>
            <a:chOff x="8946769" y="4149989"/>
            <a:chExt cx="1280358" cy="385282"/>
          </a:xfrm>
        </p:grpSpPr>
        <p:sp>
          <p:nvSpPr>
            <p:cNvPr id="18" name="圆角矩形 17"/>
            <p:cNvSpPr/>
            <p:nvPr/>
          </p:nvSpPr>
          <p:spPr>
            <a:xfrm>
              <a:off x="8946769" y="4149989"/>
              <a:ext cx="1280358" cy="375833"/>
            </a:xfrm>
            <a:prstGeom prst="roundRect">
              <a:avLst/>
            </a:prstGeom>
            <a:solidFill>
              <a:srgbClr val="82B1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4B9AF"/>
                </a:solidFill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961811" y="4165939"/>
              <a:ext cx="11936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向治蓉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 flipH="1" flipV="1">
            <a:off x="10430489" y="5651879"/>
            <a:ext cx="756287" cy="584062"/>
            <a:chOff x="4788568" y="1540043"/>
            <a:chExt cx="1215190" cy="938462"/>
          </a:xfrm>
        </p:grpSpPr>
        <p:cxnSp>
          <p:nvCxnSpPr>
            <p:cNvPr id="26" name="直接连接符 25"/>
            <p:cNvCxnSpPr/>
            <p:nvPr/>
          </p:nvCxnSpPr>
          <p:spPr>
            <a:xfrm flipV="1">
              <a:off x="5101389" y="1540043"/>
              <a:ext cx="0" cy="938462"/>
            </a:xfrm>
            <a:prstGeom prst="line">
              <a:avLst/>
            </a:prstGeom>
            <a:ln w="12700">
              <a:solidFill>
                <a:srgbClr val="E0E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4788568" y="1756611"/>
              <a:ext cx="1215190" cy="0"/>
            </a:xfrm>
            <a:prstGeom prst="line">
              <a:avLst/>
            </a:prstGeom>
            <a:ln w="12700">
              <a:solidFill>
                <a:srgbClr val="E0E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69" b="62886"/>
          <a:stretch>
            <a:fillRect/>
          </a:stretch>
        </p:blipFill>
        <p:spPr>
          <a:xfrm rot="16200000">
            <a:off x="9967877" y="-286850"/>
            <a:ext cx="1937277" cy="2510973"/>
          </a:xfrm>
          <a:custGeom>
            <a:avLst/>
            <a:gdLst>
              <a:gd name="connsiteX0" fmla="*/ 1572117 w 1572117"/>
              <a:gd name="connsiteY0" fmla="*/ 0 h 2037676"/>
              <a:gd name="connsiteX1" fmla="*/ 1572117 w 1572117"/>
              <a:gd name="connsiteY1" fmla="*/ 2037676 h 2037676"/>
              <a:gd name="connsiteX2" fmla="*/ 0 w 1572117"/>
              <a:gd name="connsiteY2" fmla="*/ 2037676 h 2037676"/>
              <a:gd name="connsiteX3" fmla="*/ 0 w 1572117"/>
              <a:gd name="connsiteY3" fmla="*/ 0 h 203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2117" h="2037676">
                <a:moveTo>
                  <a:pt x="1572117" y="0"/>
                </a:moveTo>
                <a:lnTo>
                  <a:pt x="1572117" y="2037676"/>
                </a:lnTo>
                <a:lnTo>
                  <a:pt x="0" y="2037676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/>
        </p:nvGrpSpPr>
        <p:grpSpPr>
          <a:xfrm>
            <a:off x="5484106" y="3620492"/>
            <a:ext cx="1280358" cy="375833"/>
            <a:chOff x="5331706" y="3468092"/>
            <a:chExt cx="1280358" cy="375833"/>
          </a:xfrm>
        </p:grpSpPr>
        <p:sp>
          <p:nvSpPr>
            <p:cNvPr id="11" name="圆角矩形 15"/>
            <p:cNvSpPr/>
            <p:nvPr/>
          </p:nvSpPr>
          <p:spPr>
            <a:xfrm>
              <a:off x="5331706" y="3468092"/>
              <a:ext cx="1280358" cy="375833"/>
            </a:xfrm>
            <a:prstGeom prst="roundRect">
              <a:avLst/>
            </a:prstGeom>
            <a:solidFill>
              <a:srgbClr val="82B1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381675" y="3472706"/>
              <a:ext cx="11936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小组成员：</a:t>
              </a:r>
            </a:p>
          </p:txBody>
        </p:sp>
      </p:grpSp>
    </p:spTree>
  </p:cSld>
  <p:clrMapOvr>
    <a:masterClrMapping/>
  </p:clrMapOvr>
  <p:transition spd="slow" advClick="0" advTm="6362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29285" y="-31317"/>
            <a:ext cx="12220639" cy="5784418"/>
            <a:chOff x="-28641" y="-25402"/>
            <a:chExt cx="12220639" cy="6889153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3048792" y="-3102835"/>
              <a:ext cx="4100902" cy="10255767"/>
            </a:xfrm>
            <a:prstGeom prst="rect">
              <a:avLst/>
            </a:prstGeom>
          </p:spPr>
        </p:pic>
        <p:sp>
          <p:nvSpPr>
            <p:cNvPr id="42" name="矩形 41"/>
            <p:cNvSpPr/>
            <p:nvPr/>
          </p:nvSpPr>
          <p:spPr>
            <a:xfrm>
              <a:off x="-28641" y="5749"/>
              <a:ext cx="12220639" cy="6858002"/>
            </a:xfrm>
            <a:prstGeom prst="rect">
              <a:avLst/>
            </a:prstGeom>
            <a:gradFill>
              <a:gsLst>
                <a:gs pos="0">
                  <a:schemeClr val="bg1">
                    <a:alpha val="77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079786" y="0"/>
            <a:ext cx="2015352" cy="1483485"/>
          </a:xfrm>
          <a:prstGeom prst="rect">
            <a:avLst/>
          </a:prstGeom>
          <a:solidFill>
            <a:srgbClr val="82B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3591" y="339100"/>
            <a:ext cx="1507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dirty="0">
                <a:solidFill>
                  <a:schemeClr val="bg1"/>
                </a:solidFill>
                <a:latin typeface="方正新综艺简体" panose="02010601030101010101" pitchFamily="2" charset="-122"/>
                <a:ea typeface="方正新综艺简体" panose="02010601030101010101" pitchFamily="2" charset="-122"/>
              </a:rPr>
              <a:t>目录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406100" y="2296764"/>
            <a:ext cx="1385524" cy="1385524"/>
            <a:chOff x="1929177" y="2296234"/>
            <a:chExt cx="1385524" cy="138552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9177" y="2296234"/>
              <a:ext cx="1385524" cy="1385524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1929177" y="2758164"/>
              <a:ext cx="1385524" cy="461665"/>
            </a:xfrm>
            <a:prstGeom prst="rect">
              <a:avLst/>
            </a:prstGeom>
            <a:solidFill>
              <a:srgbClr val="F7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196489" y="2758164"/>
              <a:ext cx="850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67795"/>
                  </a:solidFill>
                  <a:latin typeface="方正新综艺简体" panose="02010601030101010101" pitchFamily="2" charset="-122"/>
                  <a:ea typeface="方正新综艺简体" panose="02010601030101010101" pitchFamily="2" charset="-122"/>
                </a:rPr>
                <a:t>01</a:t>
              </a:r>
              <a:endParaRPr lang="zh-CN" altLang="en-US" sz="2400" dirty="0">
                <a:solidFill>
                  <a:srgbClr val="467795"/>
                </a:solidFill>
                <a:latin typeface="方正新综艺简体" panose="02010601030101010101" pitchFamily="2" charset="-122"/>
                <a:ea typeface="方正新综艺简体" panose="0201060103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406100" y="4207718"/>
            <a:ext cx="1385524" cy="1385524"/>
            <a:chOff x="1929177" y="2296234"/>
            <a:chExt cx="1385524" cy="1385524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9177" y="2296234"/>
              <a:ext cx="1385524" cy="1385524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929177" y="2758164"/>
              <a:ext cx="1385524" cy="461665"/>
            </a:xfrm>
            <a:prstGeom prst="rect">
              <a:avLst/>
            </a:prstGeom>
            <a:solidFill>
              <a:srgbClr val="F6F7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96489" y="2758164"/>
              <a:ext cx="850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67795"/>
                  </a:solidFill>
                  <a:latin typeface="方正新综艺简体" panose="02010601030101010101" pitchFamily="2" charset="-122"/>
                  <a:ea typeface="方正新综艺简体" panose="02010601030101010101" pitchFamily="2" charset="-122"/>
                </a:rPr>
                <a:t>03</a:t>
              </a:r>
              <a:endParaRPr lang="zh-CN" altLang="en-US" sz="2400" dirty="0">
                <a:solidFill>
                  <a:srgbClr val="467795"/>
                </a:solidFill>
                <a:latin typeface="方正新综艺简体" panose="02010601030101010101" pitchFamily="2" charset="-122"/>
                <a:ea typeface="方正新综艺简体" panose="0201060103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694217" y="2296764"/>
            <a:ext cx="1385524" cy="1385524"/>
            <a:chOff x="1929177" y="2296234"/>
            <a:chExt cx="1385524" cy="1385524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9177" y="2296234"/>
              <a:ext cx="1385524" cy="1385524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1929177" y="2758164"/>
              <a:ext cx="1385524" cy="461665"/>
            </a:xfrm>
            <a:prstGeom prst="rect">
              <a:avLst/>
            </a:prstGeom>
            <a:solidFill>
              <a:srgbClr val="F8F9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196489" y="2758164"/>
              <a:ext cx="850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67795"/>
                  </a:solidFill>
                  <a:latin typeface="方正新综艺简体" panose="02010601030101010101" pitchFamily="2" charset="-122"/>
                  <a:ea typeface="方正新综艺简体" panose="02010601030101010101" pitchFamily="2" charset="-122"/>
                </a:rPr>
                <a:t>02</a:t>
              </a:r>
              <a:endParaRPr lang="zh-CN" altLang="en-US" sz="2400" dirty="0">
                <a:solidFill>
                  <a:srgbClr val="467795"/>
                </a:solidFill>
                <a:latin typeface="方正新综艺简体" panose="02010601030101010101" pitchFamily="2" charset="-122"/>
                <a:ea typeface="方正新综艺简体" panose="02010601030101010101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694217" y="4207718"/>
            <a:ext cx="1385524" cy="1385524"/>
            <a:chOff x="1929177" y="2296234"/>
            <a:chExt cx="1385524" cy="1385524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9177" y="2296234"/>
              <a:ext cx="1385524" cy="1385524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1929177" y="2758164"/>
              <a:ext cx="1385524" cy="461665"/>
            </a:xfrm>
            <a:prstGeom prst="rect">
              <a:avLst/>
            </a:prstGeom>
            <a:solidFill>
              <a:srgbClr val="F6F7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196489" y="2758164"/>
              <a:ext cx="850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67795"/>
                  </a:solidFill>
                  <a:latin typeface="方正新综艺简体" panose="02010601030101010101" pitchFamily="2" charset="-122"/>
                  <a:ea typeface="方正新综艺简体" panose="02010601030101010101" pitchFamily="2" charset="-122"/>
                </a:rPr>
                <a:t>04</a:t>
              </a:r>
              <a:endParaRPr lang="zh-CN" altLang="en-US" sz="2400" dirty="0">
                <a:solidFill>
                  <a:srgbClr val="467795"/>
                </a:solidFill>
                <a:latin typeface="方正新综艺简体" panose="02010601030101010101" pitchFamily="2" charset="-122"/>
                <a:ea typeface="方正新综艺简体" panose="02010601030101010101" pitchFamily="2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3058935" y="2563256"/>
            <a:ext cx="1385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rgbClr val="4677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sz="2400" b="1" dirty="0">
                <a:solidFill>
                  <a:srgbClr val="4677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400" b="1" dirty="0">
              <a:solidFill>
                <a:srgbClr val="46779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058936" y="4521017"/>
            <a:ext cx="2399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rgbClr val="4677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关键技术和难点</a:t>
            </a:r>
            <a:endParaRPr lang="zh-CN" altLang="zh-CN" sz="2400" b="1" dirty="0">
              <a:solidFill>
                <a:srgbClr val="46779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403285" y="2588655"/>
            <a:ext cx="305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rgbClr val="4677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作品部署和运行测试</a:t>
            </a:r>
            <a:endParaRPr lang="zh-CN" altLang="zh-CN" sz="2400" b="1" dirty="0">
              <a:solidFill>
                <a:srgbClr val="46779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403285" y="4521017"/>
            <a:ext cx="2399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rgbClr val="4677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组员分工汇报</a:t>
            </a:r>
            <a:endParaRPr lang="zh-CN" altLang="zh-CN" sz="2400" b="1" dirty="0">
              <a:solidFill>
                <a:srgbClr val="46779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 hidden="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69" b="62886"/>
          <a:stretch>
            <a:fillRect/>
          </a:stretch>
        </p:blipFill>
        <p:spPr>
          <a:xfrm rot="16200000">
            <a:off x="9967877" y="-286850"/>
            <a:ext cx="1937277" cy="2510973"/>
          </a:xfrm>
          <a:custGeom>
            <a:avLst/>
            <a:gdLst>
              <a:gd name="connsiteX0" fmla="*/ 1572117 w 1572117"/>
              <a:gd name="connsiteY0" fmla="*/ 0 h 2037676"/>
              <a:gd name="connsiteX1" fmla="*/ 1572117 w 1572117"/>
              <a:gd name="connsiteY1" fmla="*/ 2037676 h 2037676"/>
              <a:gd name="connsiteX2" fmla="*/ 0 w 1572117"/>
              <a:gd name="connsiteY2" fmla="*/ 2037676 h 2037676"/>
              <a:gd name="connsiteX3" fmla="*/ 0 w 1572117"/>
              <a:gd name="connsiteY3" fmla="*/ 0 h 203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2117" h="2037676">
                <a:moveTo>
                  <a:pt x="1572117" y="0"/>
                </a:moveTo>
                <a:lnTo>
                  <a:pt x="1572117" y="2037676"/>
                </a:lnTo>
                <a:lnTo>
                  <a:pt x="0" y="203767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5194300" y="890799"/>
            <a:ext cx="1787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Microsoft Yi Baiti" panose="03000500000000000000" pitchFamily="66" charset="0"/>
                <a:ea typeface="Microsoft Yi Baiti" panose="03000500000000000000" pitchFamily="66" charset="0"/>
              </a:rPr>
              <a:t>CONTENTS</a:t>
            </a:r>
            <a:endParaRPr lang="zh-CN" altLang="en-US" sz="2800" b="1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079786" y="1547047"/>
            <a:ext cx="2015352" cy="72000"/>
          </a:xfrm>
          <a:prstGeom prst="rect">
            <a:avLst/>
          </a:prstGeom>
          <a:solidFill>
            <a:srgbClr val="82B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8732877" y="3971525"/>
            <a:ext cx="3564213" cy="32434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968">
        <p:blinds dir="vert"/>
      </p:transition>
    </mc:Choice>
    <mc:Fallback xmlns="">
      <p:transition spd="slow" advClick="0" advTm="5968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0" grpId="0"/>
      <p:bldP spid="22" grpId="0"/>
      <p:bldP spid="24" grpId="0"/>
      <p:bldP spid="26" grpId="0"/>
      <p:bldP spid="38" grpId="0"/>
      <p:bldP spid="4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360" y="1111508"/>
            <a:ext cx="4389160" cy="4389160"/>
          </a:xfrm>
          <a:prstGeom prst="rect">
            <a:avLst/>
          </a:prstGeom>
        </p:spPr>
      </p:pic>
      <p:sp useBgFill="1">
        <p:nvSpPr>
          <p:cNvPr id="11" name="矩形 10"/>
          <p:cNvSpPr/>
          <p:nvPr/>
        </p:nvSpPr>
        <p:spPr>
          <a:xfrm>
            <a:off x="3626925" y="2761962"/>
            <a:ext cx="4914900" cy="12486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>
            <a:off x="4172963" y="2766710"/>
            <a:ext cx="3984890" cy="0"/>
          </a:xfrm>
          <a:prstGeom prst="line">
            <a:avLst/>
          </a:prstGeom>
          <a:ln>
            <a:solidFill>
              <a:srgbClr val="82B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230375" y="3986127"/>
            <a:ext cx="3708000" cy="0"/>
          </a:xfrm>
          <a:prstGeom prst="line">
            <a:avLst/>
          </a:prstGeom>
          <a:ln>
            <a:solidFill>
              <a:srgbClr val="82B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195454" y="2927015"/>
            <a:ext cx="4560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81B1CE"/>
                </a:solidFill>
              </a:rPr>
              <a:t>UML</a:t>
            </a:r>
            <a:r>
              <a:rPr lang="zh-CN" altLang="en-US" sz="5400" b="1" dirty="0">
                <a:solidFill>
                  <a:srgbClr val="81B1CE"/>
                </a:solidFill>
              </a:rPr>
              <a:t>图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190">
        <p15:prstTrans prst="pageCurlDouble"/>
      </p:transition>
    </mc:Choice>
    <mc:Fallback>
      <p:transition spd="slow" advClick="0" advTm="519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9634" y="-419634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013860" y="0"/>
            <a:ext cx="3636829" cy="830997"/>
          </a:xfrm>
          <a:prstGeom prst="rect">
            <a:avLst/>
          </a:prstGeom>
          <a:solidFill>
            <a:srgbClr val="F8F9FB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81B1CE"/>
                </a:solidFill>
              </a:rPr>
              <a:t>            </a:t>
            </a:r>
            <a:r>
              <a:rPr lang="en-US" altLang="zh-CN" sz="4800" b="1" dirty="0">
                <a:solidFill>
                  <a:srgbClr val="81B1CE"/>
                </a:solidFill>
              </a:rPr>
              <a:t>UML</a:t>
            </a:r>
            <a:r>
              <a:rPr lang="zh-CN" altLang="en-US" sz="4800" b="1" dirty="0">
                <a:solidFill>
                  <a:srgbClr val="81B1CE"/>
                </a:solidFill>
              </a:rPr>
              <a:t>图</a:t>
            </a:r>
            <a:endParaRPr lang="zh-CN" altLang="en-US" b="1" dirty="0">
              <a:solidFill>
                <a:srgbClr val="81B1CE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800" y="1054100"/>
            <a:ext cx="5075373" cy="542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813">
        <p15:prstTrans prst="pageCurlDouble"/>
      </p:transition>
    </mc:Choice>
    <mc:Fallback>
      <p:transition spd="slow" advClick="0" advTm="5813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360" y="1111508"/>
            <a:ext cx="4389160" cy="4389160"/>
          </a:xfrm>
          <a:prstGeom prst="rect">
            <a:avLst/>
          </a:prstGeom>
        </p:spPr>
      </p:pic>
      <p:sp useBgFill="1">
        <p:nvSpPr>
          <p:cNvPr id="11" name="矩形 10"/>
          <p:cNvSpPr/>
          <p:nvPr/>
        </p:nvSpPr>
        <p:spPr>
          <a:xfrm>
            <a:off x="4172963" y="2737439"/>
            <a:ext cx="4914900" cy="12486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>
            <a:off x="4172963" y="2766710"/>
            <a:ext cx="3984890" cy="0"/>
          </a:xfrm>
          <a:prstGeom prst="line">
            <a:avLst/>
          </a:prstGeom>
          <a:ln>
            <a:solidFill>
              <a:srgbClr val="82B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230375" y="3986127"/>
            <a:ext cx="3708000" cy="0"/>
          </a:xfrm>
          <a:prstGeom prst="line">
            <a:avLst/>
          </a:prstGeom>
          <a:ln>
            <a:solidFill>
              <a:srgbClr val="82B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841668" y="2977062"/>
            <a:ext cx="53082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作品部署和运行测试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190">
        <p15:prstTrans prst="pageCurlDouble"/>
      </p:transition>
    </mc:Choice>
    <mc:Fallback>
      <p:transition spd="slow" advClick="0" advTm="519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sp useBgFill="1">
        <p:nvSpPr>
          <p:cNvPr id="11" name="矩形 10"/>
          <p:cNvSpPr/>
          <p:nvPr/>
        </p:nvSpPr>
        <p:spPr>
          <a:xfrm>
            <a:off x="1363019" y="3279132"/>
            <a:ext cx="4914900" cy="12486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820469" y="-35599"/>
            <a:ext cx="4183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81B1CE"/>
                </a:solidFill>
                <a:latin typeface="方正新综艺简体" panose="02010601030101010101" pitchFamily="2" charset="-122"/>
                <a:ea typeface="方正新综艺简体" panose="02010601030101010101" pitchFamily="2" charset="-122"/>
              </a:rPr>
              <a:t>作品部署和运行</a:t>
            </a:r>
            <a:endParaRPr lang="zh-CN" altLang="zh-CN" sz="4400" b="1" dirty="0">
              <a:solidFill>
                <a:srgbClr val="81B1CE"/>
              </a:solidFill>
              <a:latin typeface="方正新综艺简体" panose="02010601030101010101" pitchFamily="2" charset="-122"/>
              <a:ea typeface="方正新综艺简体" panose="02010601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24" y="1503176"/>
            <a:ext cx="3911626" cy="4800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545" y="1503176"/>
            <a:ext cx="4045407" cy="4800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52" y="1503176"/>
            <a:ext cx="394505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6285">
        <p15:prstTrans prst="pageCurlDouble"/>
      </p:transition>
    </mc:Choice>
    <mc:Fallback>
      <p:transition spd="slow" advClick="0" advTm="628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sp useBgFill="1">
        <p:nvSpPr>
          <p:cNvPr id="11" name="矩形 10"/>
          <p:cNvSpPr/>
          <p:nvPr/>
        </p:nvSpPr>
        <p:spPr>
          <a:xfrm>
            <a:off x="1363019" y="3279132"/>
            <a:ext cx="4914900" cy="12486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820469" y="-35599"/>
            <a:ext cx="4183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81B1CE"/>
                </a:solidFill>
                <a:latin typeface="方正新综艺简体" panose="02010601030101010101" pitchFamily="2" charset="-122"/>
                <a:ea typeface="方正新综艺简体" panose="02010601030101010101" pitchFamily="2" charset="-122"/>
              </a:rPr>
              <a:t>作品部署和运行</a:t>
            </a:r>
            <a:endParaRPr lang="zh-CN" altLang="zh-CN" sz="4400" b="1" dirty="0">
              <a:solidFill>
                <a:srgbClr val="81B1CE"/>
              </a:solidFill>
              <a:latin typeface="方正新综艺简体" panose="02010601030101010101" pitchFamily="2" charset="-122"/>
              <a:ea typeface="方正新综艺简体" panose="02010601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55" y="1363181"/>
            <a:ext cx="4900595" cy="4762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"/>
          <a:stretch>
            <a:fillRect/>
          </a:stretch>
        </p:blipFill>
        <p:spPr>
          <a:xfrm>
            <a:off x="5298414" y="1369243"/>
            <a:ext cx="6546850" cy="4762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6285">
        <p15:prstTrans prst="pageCurlDouble"/>
      </p:transition>
    </mc:Choice>
    <mc:Fallback>
      <p:transition spd="slow" advClick="0" advTm="628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360" y="1111508"/>
            <a:ext cx="4389160" cy="4389160"/>
          </a:xfrm>
          <a:prstGeom prst="rect">
            <a:avLst/>
          </a:prstGeom>
        </p:spPr>
      </p:pic>
      <p:sp useBgFill="1">
        <p:nvSpPr>
          <p:cNvPr id="11" name="矩形 10"/>
          <p:cNvSpPr/>
          <p:nvPr/>
        </p:nvSpPr>
        <p:spPr>
          <a:xfrm>
            <a:off x="3626925" y="2761962"/>
            <a:ext cx="4914900" cy="12486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>
            <a:off x="4172963" y="2766710"/>
            <a:ext cx="3984890" cy="0"/>
          </a:xfrm>
          <a:prstGeom prst="line">
            <a:avLst/>
          </a:prstGeom>
          <a:ln>
            <a:solidFill>
              <a:srgbClr val="82B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230375" y="3986127"/>
            <a:ext cx="3708000" cy="0"/>
          </a:xfrm>
          <a:prstGeom prst="line">
            <a:avLst/>
          </a:prstGeom>
          <a:ln>
            <a:solidFill>
              <a:srgbClr val="82B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286992" y="2991698"/>
            <a:ext cx="4560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关键技术和难点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190">
        <p15:prstTrans prst="pageCurlDouble"/>
      </p:transition>
    </mc:Choice>
    <mc:Fallback>
      <p:transition spd="slow" advClick="0" advTm="519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关键技术和难点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5500" y="1293331"/>
            <a:ext cx="37211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关键技术：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1.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数据库抽象层设计：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实现对象关系映射</a:t>
            </a:r>
            <a:r>
              <a:rPr lang="en-US" altLang="zh-CN" dirty="0">
                <a:solidFill>
                  <a:schemeClr val="accent1"/>
                </a:solidFill>
              </a:rPr>
              <a:t>(ORM)</a:t>
            </a:r>
            <a:r>
              <a:rPr lang="zh-CN" altLang="en-US" dirty="0">
                <a:solidFill>
                  <a:schemeClr val="accent1"/>
                </a:solidFill>
              </a:rPr>
              <a:t>模式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集成</a:t>
            </a:r>
            <a:r>
              <a:rPr lang="en-US" altLang="zh-CN" dirty="0">
                <a:solidFill>
                  <a:schemeClr val="accent1"/>
                </a:solidFill>
              </a:rPr>
              <a:t>PostgreSQL C++</a:t>
            </a:r>
            <a:r>
              <a:rPr lang="zh-CN" altLang="en-US" dirty="0">
                <a:solidFill>
                  <a:schemeClr val="accent1"/>
                </a:solidFill>
              </a:rPr>
              <a:t>接口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 err="1">
                <a:solidFill>
                  <a:schemeClr val="accent1"/>
                </a:solidFill>
              </a:rPr>
              <a:t>pqxx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设计统一的数据访问接口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2.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分层架构模式：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清晰的关注点分离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依赖倒置原则应用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接口隔离设计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3.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资源管理和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RALL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：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智能指针和自动内存管理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数据库连接池技术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事务的自动提交和回滚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4.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泛型编程和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STL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应用：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-Lambda</a:t>
            </a:r>
            <a:r>
              <a:rPr lang="zh-CN" altLang="en-US" dirty="0">
                <a:solidFill>
                  <a:schemeClr val="accent1"/>
                </a:solidFill>
              </a:rPr>
              <a:t>表达式和函数对象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标准算法库高效使用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-</a:t>
            </a:r>
            <a:r>
              <a:rPr lang="zh-CN" altLang="en-US" dirty="0">
                <a:solidFill>
                  <a:schemeClr val="accent1"/>
                </a:solidFill>
              </a:rPr>
              <a:t>容器和迭代器的现代用法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327" y="1584037"/>
            <a:ext cx="3916414" cy="1177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327" y="2831214"/>
            <a:ext cx="3916413" cy="1055018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93" b="11404"/>
          <a:stretch>
            <a:fillRect/>
          </a:stretch>
        </p:blipFill>
        <p:spPr>
          <a:xfrm>
            <a:off x="4462329" y="3955485"/>
            <a:ext cx="3832142" cy="1207021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24245" r="2654" b="5354"/>
          <a:stretch>
            <a:fillRect/>
          </a:stretch>
        </p:blipFill>
        <p:spPr>
          <a:xfrm>
            <a:off x="4435299" y="5233111"/>
            <a:ext cx="3970471" cy="11077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墨迹 19"/>
              <p14:cNvContentPartPr/>
              <p14:nvPr/>
            </p14:nvContentPartPr>
            <p14:xfrm>
              <a:off x="3339640" y="1981000"/>
              <a:ext cx="1309320" cy="72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9"/>
            </p:blipFill>
            <p:spPr>
              <a:xfrm>
                <a:off x="3339640" y="1981000"/>
                <a:ext cx="1309320" cy="7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墨迹 16"/>
              <p14:cNvContentPartPr/>
              <p14:nvPr/>
            </p14:nvContentPartPr>
            <p14:xfrm>
              <a:off x="2806480" y="3104900"/>
              <a:ext cx="1752840" cy="72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11"/>
            </p:blipFill>
            <p:spPr>
              <a:xfrm>
                <a:off x="2806480" y="3104900"/>
                <a:ext cx="1752840" cy="7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墨迹 18"/>
              <p14:cNvContentPartPr/>
              <p14:nvPr/>
            </p14:nvContentPartPr>
            <p14:xfrm>
              <a:off x="3085840" y="4241780"/>
              <a:ext cx="1479960" cy="648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13"/>
            </p:blipFill>
            <p:spPr>
              <a:xfrm>
                <a:off x="3085840" y="4241780"/>
                <a:ext cx="1479960" cy="6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墨迹 21"/>
              <p14:cNvContentPartPr/>
              <p14:nvPr/>
            </p14:nvContentPartPr>
            <p14:xfrm>
              <a:off x="3409480" y="5327540"/>
              <a:ext cx="1181520" cy="3204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15"/>
            </p:blipFill>
            <p:spPr>
              <a:xfrm>
                <a:off x="3409480" y="5327540"/>
                <a:ext cx="1181520" cy="3204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关键技术和难点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墨迹 12"/>
              <p14:cNvContentPartPr/>
              <p14:nvPr/>
            </p14:nvContentPartPr>
            <p14:xfrm>
              <a:off x="374320" y="337814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4"/>
            </p:blipFill>
            <p:spPr>
              <a:xfrm>
                <a:off x="374320" y="3378140"/>
                <a:ext cx="360" cy="360"/>
              </a:xfrm>
              <a:prstGeom prst="rect"/>
            </p:spPr>
          </p:pic>
        </mc:Fallback>
      </mc:AlternateContent>
      <p:sp>
        <p:nvSpPr>
          <p:cNvPr id="4" name="文本框 3"/>
          <p:cNvSpPr txBox="1"/>
          <p:nvPr/>
        </p:nvSpPr>
        <p:spPr>
          <a:xfrm>
            <a:off x="1409370" y="1188214"/>
            <a:ext cx="51357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/>
                </a:solidFill>
              </a:rPr>
              <a:t>1.</a:t>
            </a:r>
            <a:r>
              <a:rPr lang="zh-CN" altLang="en-US" dirty="0">
                <a:solidFill>
                  <a:schemeClr val="accent5"/>
                </a:solidFill>
              </a:rPr>
              <a:t>模块依赖管理</a:t>
            </a:r>
            <a:endParaRPr lang="en-US" altLang="zh-CN" dirty="0">
              <a:solidFill>
                <a:schemeClr val="accent5"/>
              </a:solidFill>
            </a:endParaRPr>
          </a:p>
          <a:p>
            <a:r>
              <a:rPr lang="zh-CN" altLang="en-US" sz="1600" dirty="0">
                <a:solidFill>
                  <a:schemeClr val="accent1"/>
                </a:solidFill>
              </a:rPr>
              <a:t>模块间的循环依赖难以调试</a:t>
            </a:r>
            <a:endParaRPr lang="en-US" altLang="zh-CN" sz="1600" dirty="0">
              <a:solidFill>
                <a:schemeClr val="accent1"/>
              </a:solidFill>
            </a:endParaRPr>
          </a:p>
          <a:p>
            <a:r>
              <a:rPr lang="zh-CN" altLang="en-US" sz="1600" dirty="0">
                <a:solidFill>
                  <a:schemeClr val="accent1"/>
                </a:solidFill>
              </a:rPr>
              <a:t>编译时依赖关系复杂</a:t>
            </a:r>
            <a:endParaRPr lang="en-US" altLang="zh-CN" sz="1600" dirty="0">
              <a:solidFill>
                <a:schemeClr val="accent1"/>
              </a:solidFill>
            </a:endParaRPr>
          </a:p>
          <a:p>
            <a:r>
              <a:rPr lang="zh-CN" altLang="en-US" sz="1600" dirty="0">
                <a:solidFill>
                  <a:schemeClr val="accent1"/>
                </a:solidFill>
              </a:rPr>
              <a:t>接口变更的传播影响范围大</a:t>
            </a:r>
            <a:endParaRPr lang="en-US" altLang="zh-CN" sz="1600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5"/>
                </a:solidFill>
              </a:rPr>
              <a:t>2. </a:t>
            </a:r>
            <a:r>
              <a:rPr lang="zh-CN" altLang="en-US" dirty="0">
                <a:solidFill>
                  <a:schemeClr val="accent5"/>
                </a:solidFill>
              </a:rPr>
              <a:t>缓存一致性维护</a:t>
            </a:r>
            <a:endParaRPr lang="en-US" altLang="zh-CN" dirty="0">
              <a:solidFill>
                <a:schemeClr val="accent5"/>
              </a:solidFill>
            </a:endParaRPr>
          </a:p>
          <a:p>
            <a:r>
              <a:rPr lang="zh-CN" altLang="en-US" sz="1600" dirty="0">
                <a:solidFill>
                  <a:schemeClr val="accent1"/>
                </a:solidFill>
              </a:rPr>
              <a:t>多用户并发时的数据竞争</a:t>
            </a:r>
            <a:endParaRPr lang="en-US" altLang="zh-CN" sz="1600" dirty="0">
              <a:solidFill>
                <a:schemeClr val="accent1"/>
              </a:solidFill>
            </a:endParaRPr>
          </a:p>
          <a:p>
            <a:r>
              <a:rPr lang="zh-CN" altLang="en-US" sz="1600" dirty="0">
                <a:solidFill>
                  <a:schemeClr val="accent1"/>
                </a:solidFill>
              </a:rPr>
              <a:t>缓存失效策略难以精确控制</a:t>
            </a:r>
            <a:endParaRPr lang="en-US" altLang="zh-CN" sz="1600" dirty="0">
              <a:solidFill>
                <a:schemeClr val="accent1"/>
              </a:solidFill>
            </a:endParaRPr>
          </a:p>
          <a:p>
            <a:r>
              <a:rPr lang="zh-CN" altLang="en-US" sz="1600" dirty="0">
                <a:solidFill>
                  <a:schemeClr val="accent1"/>
                </a:solidFill>
              </a:rPr>
              <a:t>内存泄漏和悬空指针风险</a:t>
            </a:r>
            <a:endParaRPr lang="en-US" altLang="zh-CN" sz="1600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5"/>
                </a:solidFill>
              </a:rPr>
              <a:t>3. </a:t>
            </a:r>
            <a:r>
              <a:rPr lang="zh-CN" altLang="en-US" dirty="0">
                <a:solidFill>
                  <a:schemeClr val="accent5"/>
                </a:solidFill>
              </a:rPr>
              <a:t>异常安全保证</a:t>
            </a:r>
            <a:endParaRPr lang="en-US" altLang="zh-CN" dirty="0">
              <a:solidFill>
                <a:schemeClr val="accent5"/>
              </a:solidFill>
            </a:endParaRPr>
          </a:p>
          <a:p>
            <a:r>
              <a:rPr lang="zh-CN" altLang="en-US" sz="1600" dirty="0">
                <a:solidFill>
                  <a:schemeClr val="accent1"/>
                </a:solidFill>
              </a:rPr>
              <a:t>数据库操作中的部分失败处理</a:t>
            </a:r>
            <a:endParaRPr lang="en-US" altLang="zh-CN" sz="1600" dirty="0">
              <a:solidFill>
                <a:schemeClr val="accent1"/>
              </a:solidFill>
            </a:endParaRPr>
          </a:p>
          <a:p>
            <a:r>
              <a:rPr lang="zh-CN" altLang="en-US" sz="1600" dirty="0">
                <a:solidFill>
                  <a:schemeClr val="accent1"/>
                </a:solidFill>
              </a:rPr>
              <a:t>资源泄漏的预防难度大</a:t>
            </a:r>
            <a:endParaRPr lang="en-US" altLang="zh-CN" sz="1600" dirty="0">
              <a:solidFill>
                <a:schemeClr val="accent1"/>
              </a:solidFill>
            </a:endParaRPr>
          </a:p>
          <a:p>
            <a:r>
              <a:rPr lang="zh-CN" altLang="en-US" sz="1600" dirty="0">
                <a:solidFill>
                  <a:schemeClr val="accent1"/>
                </a:solidFill>
              </a:rPr>
              <a:t>异常传播路径复杂</a:t>
            </a:r>
            <a:endParaRPr lang="en-US" altLang="zh-CN" sz="1600" dirty="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98918" y="91121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/>
                </a:solidFill>
              </a:rPr>
              <a:t>4. </a:t>
            </a:r>
            <a:r>
              <a:rPr lang="zh-CN" altLang="en-US" dirty="0">
                <a:solidFill>
                  <a:schemeClr val="accent5"/>
                </a:solidFill>
              </a:rPr>
              <a:t>性能优化平衡</a:t>
            </a:r>
            <a:endParaRPr lang="en-US" altLang="zh-CN" dirty="0">
              <a:solidFill>
                <a:schemeClr val="accent5"/>
              </a:solidFill>
            </a:endParaRPr>
          </a:p>
          <a:p>
            <a:r>
              <a:rPr lang="zh-CN" altLang="en-US" sz="1800" dirty="0">
                <a:solidFill>
                  <a:schemeClr val="accent1"/>
                </a:solidFill>
              </a:rPr>
              <a:t>缓存大小与内存使用的矛盾</a:t>
            </a:r>
            <a:endParaRPr lang="en-US" altLang="zh-CN" sz="1800" dirty="0">
              <a:solidFill>
                <a:schemeClr val="accent1"/>
              </a:solidFill>
            </a:endParaRPr>
          </a:p>
          <a:p>
            <a:r>
              <a:rPr lang="zh-CN" altLang="en-US" sz="1800" dirty="0">
                <a:solidFill>
                  <a:schemeClr val="accent1"/>
                </a:solidFill>
              </a:rPr>
              <a:t>查询性能与数据实时性的平衡</a:t>
            </a:r>
            <a:endParaRPr lang="en-US" altLang="zh-CN" sz="1800" dirty="0">
              <a:solidFill>
                <a:schemeClr val="accent1"/>
              </a:solidFill>
            </a:endParaRPr>
          </a:p>
          <a:p>
            <a:r>
              <a:rPr lang="zh-CN" altLang="en-US" sz="1800" dirty="0">
                <a:solidFill>
                  <a:schemeClr val="accent1"/>
                </a:solidFill>
              </a:rPr>
              <a:t>连接池大小的优化配置</a:t>
            </a:r>
            <a:endParaRPr lang="en-US" altLang="zh-CN" sz="1800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5"/>
                </a:solidFill>
              </a:rPr>
              <a:t>5. </a:t>
            </a:r>
            <a:r>
              <a:rPr lang="zh-CN" altLang="en-US" dirty="0">
                <a:solidFill>
                  <a:schemeClr val="accent5"/>
                </a:solidFill>
              </a:rPr>
              <a:t>类型安全与转换</a:t>
            </a:r>
            <a:endParaRPr lang="en-US" altLang="zh-CN" dirty="0">
              <a:solidFill>
                <a:schemeClr val="accent5"/>
              </a:solidFill>
            </a:endParaRPr>
          </a:p>
          <a:p>
            <a:r>
              <a:rPr lang="zh-CN" altLang="en-US" sz="1800" dirty="0">
                <a:solidFill>
                  <a:schemeClr val="accent1"/>
                </a:solidFill>
              </a:rPr>
              <a:t>数据库类型到</a:t>
            </a:r>
            <a:r>
              <a:rPr lang="en-US" altLang="zh-CN" sz="1800" dirty="0">
                <a:solidFill>
                  <a:schemeClr val="accent1"/>
                </a:solidFill>
              </a:rPr>
              <a:t>C++</a:t>
            </a:r>
            <a:r>
              <a:rPr lang="zh-CN" altLang="en-US" sz="1800" dirty="0">
                <a:solidFill>
                  <a:schemeClr val="accent1"/>
                </a:solidFill>
              </a:rPr>
              <a:t>类型的映射</a:t>
            </a:r>
            <a:endParaRPr lang="en-US" altLang="zh-CN" sz="1800" dirty="0">
              <a:solidFill>
                <a:schemeClr val="accent1"/>
              </a:solidFill>
            </a:endParaRPr>
          </a:p>
          <a:p>
            <a:r>
              <a:rPr lang="zh-CN" altLang="en-US" sz="1800" dirty="0">
                <a:solidFill>
                  <a:schemeClr val="accent1"/>
                </a:solidFill>
              </a:rPr>
              <a:t>字符串处理的性能开销</a:t>
            </a:r>
            <a:endParaRPr lang="en-US" altLang="zh-CN" sz="1800" dirty="0">
              <a:solidFill>
                <a:schemeClr val="accent1"/>
              </a:solidFill>
            </a:endParaRPr>
          </a:p>
          <a:p>
            <a:r>
              <a:rPr lang="zh-CN" altLang="en-US" sz="1800" dirty="0">
                <a:solidFill>
                  <a:schemeClr val="accent1"/>
                </a:solidFill>
              </a:rPr>
              <a:t>空值和边界条件处理</a:t>
            </a:r>
            <a:endParaRPr lang="en-US" altLang="zh-CN" sz="1800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5"/>
                </a:solidFill>
              </a:rPr>
              <a:t>6. </a:t>
            </a:r>
            <a:r>
              <a:rPr lang="zh-CN" altLang="en-US" dirty="0">
                <a:solidFill>
                  <a:schemeClr val="accent5"/>
                </a:solidFill>
              </a:rPr>
              <a:t>架构扩展性维护</a:t>
            </a:r>
            <a:endParaRPr lang="en-US" altLang="zh-CN" dirty="0">
              <a:solidFill>
                <a:schemeClr val="accent5"/>
              </a:solidFill>
            </a:endParaRPr>
          </a:p>
          <a:p>
            <a:r>
              <a:rPr lang="zh-CN" altLang="en-US" sz="1800" dirty="0">
                <a:solidFill>
                  <a:schemeClr val="accent1"/>
                </a:solidFill>
              </a:rPr>
              <a:t>接口设计的向前兼容性</a:t>
            </a:r>
            <a:endParaRPr lang="en-US" altLang="zh-CN" sz="1800" dirty="0">
              <a:solidFill>
                <a:schemeClr val="accent1"/>
              </a:solidFill>
            </a:endParaRPr>
          </a:p>
          <a:p>
            <a:r>
              <a:rPr lang="zh-CN" altLang="en-US" sz="1800" dirty="0">
                <a:solidFill>
                  <a:schemeClr val="accent1"/>
                </a:solidFill>
              </a:rPr>
              <a:t>新功能添加对现有架构的影响</a:t>
            </a:r>
            <a:endParaRPr lang="en-US" altLang="zh-CN" sz="1800" dirty="0">
              <a:solidFill>
                <a:schemeClr val="accent1"/>
              </a:solidFill>
            </a:endParaRPr>
          </a:p>
          <a:p>
            <a:r>
              <a:rPr lang="zh-CN" altLang="en-US" sz="1800" dirty="0">
                <a:solidFill>
                  <a:schemeClr val="accent1"/>
                </a:solidFill>
              </a:rPr>
              <a:t>测试覆盖率的维护难度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09370" y="769441"/>
            <a:ext cx="2679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难点：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360" y="1111508"/>
            <a:ext cx="4389160" cy="4389160"/>
          </a:xfrm>
          <a:prstGeom prst="rect">
            <a:avLst/>
          </a:prstGeom>
        </p:spPr>
      </p:pic>
      <p:sp useBgFill="1">
        <p:nvSpPr>
          <p:cNvPr id="11" name="矩形 10"/>
          <p:cNvSpPr/>
          <p:nvPr/>
        </p:nvSpPr>
        <p:spPr>
          <a:xfrm>
            <a:off x="3626925" y="2761962"/>
            <a:ext cx="4914900" cy="12486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>
            <a:off x="4172963" y="2766710"/>
            <a:ext cx="3984890" cy="0"/>
          </a:xfrm>
          <a:prstGeom prst="line">
            <a:avLst/>
          </a:prstGeom>
          <a:ln>
            <a:solidFill>
              <a:srgbClr val="82B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230375" y="3986127"/>
            <a:ext cx="3708000" cy="0"/>
          </a:xfrm>
          <a:prstGeom prst="line">
            <a:avLst/>
          </a:prstGeom>
          <a:ln>
            <a:solidFill>
              <a:srgbClr val="82B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59184" y="2991698"/>
            <a:ext cx="4560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组员分工汇报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190">
        <p15:prstTrans prst="pageCurlDouble"/>
      </p:transition>
    </mc:Choice>
    <mc:Fallback>
      <p:transition spd="slow" advClick="0" advTm="519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组员分工汇报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77990" y="938151"/>
            <a:ext cx="3034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81B1CE"/>
                </a:solidFill>
              </a:rPr>
              <a:t>——</a:t>
            </a:r>
            <a:r>
              <a:rPr lang="zh-CN" altLang="en-US" sz="2000" b="1" dirty="0">
                <a:solidFill>
                  <a:srgbClr val="81B1CE"/>
                </a:solidFill>
              </a:rPr>
              <a:t>向治蓉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0"/>
          <a:stretch>
            <a:fillRect/>
          </a:stretch>
        </p:blipFill>
        <p:spPr>
          <a:xfrm>
            <a:off x="1153017" y="769441"/>
            <a:ext cx="4560994" cy="60579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77990" y="1552913"/>
            <a:ext cx="41052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定义了一个课程管理系统的核心领域模型，其中 </a:t>
            </a:r>
            <a:r>
              <a:rPr lang="en-US" altLang="zh-CN" dirty="0"/>
              <a:t>Course</a:t>
            </a:r>
            <a:r>
              <a:rPr lang="zh-CN" altLang="en-US" dirty="0"/>
              <a:t>（课程）类 负责管理课程的基本信息（如</a:t>
            </a:r>
            <a:r>
              <a:rPr lang="en-US" altLang="zh-CN" dirty="0"/>
              <a:t>ID</a:t>
            </a:r>
            <a:r>
              <a:rPr lang="zh-CN" altLang="en-US" dirty="0"/>
              <a:t>、名称、学分）和容量状态（最大容量与当前选课人数），提供选课、退课及状态查询功能；而 </a:t>
            </a:r>
            <a:r>
              <a:rPr lang="en-US" altLang="zh-CN" dirty="0"/>
              <a:t>Student</a:t>
            </a:r>
            <a:r>
              <a:rPr lang="zh-CN" altLang="en-US" dirty="0"/>
              <a:t>（学生）类 则管理学生的基本信息（</a:t>
            </a:r>
            <a:r>
              <a:rPr lang="en-US" altLang="zh-CN" dirty="0"/>
              <a:t>ID</a:t>
            </a:r>
            <a:r>
              <a:rPr lang="zh-CN" altLang="en-US" dirty="0"/>
              <a:t>、姓名）及其已选课程</a:t>
            </a:r>
            <a:r>
              <a:rPr lang="en-US" altLang="zh-CN" dirty="0"/>
              <a:t>ID</a:t>
            </a:r>
            <a:r>
              <a:rPr lang="zh-CN" altLang="en-US" dirty="0"/>
              <a:t>列表，支持课程添加、移除和查询操作。两者通过课程</a:t>
            </a:r>
            <a:r>
              <a:rPr lang="en-US" altLang="zh-CN" dirty="0"/>
              <a:t>ID</a:t>
            </a:r>
            <a:r>
              <a:rPr lang="zh-CN" altLang="en-US" dirty="0"/>
              <a:t>关联，共同构成了学生选课系统的基础数据单元。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组员分工汇报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77990" y="938151"/>
            <a:ext cx="3034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81B1CE"/>
                </a:solidFill>
              </a:rPr>
              <a:t>——</a:t>
            </a:r>
            <a:r>
              <a:rPr lang="zh-CN" altLang="en-US" sz="2000" b="1" dirty="0">
                <a:solidFill>
                  <a:srgbClr val="81B1CE"/>
                </a:solidFill>
              </a:rPr>
              <a:t>向治蓉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2684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007" y="1752600"/>
            <a:ext cx="3975993" cy="50355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891082" y="1752600"/>
            <a:ext cx="29432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实现了一个课程管理系统的控制台交互界面，通过 </a:t>
            </a:r>
            <a:r>
              <a:rPr lang="en-US" altLang="zh-CN" dirty="0" err="1"/>
              <a:t>ConsoleView</a:t>
            </a:r>
            <a:r>
              <a:rPr lang="en-US" altLang="zh-CN" dirty="0"/>
              <a:t> </a:t>
            </a:r>
            <a:r>
              <a:rPr lang="zh-CN" altLang="en-US" dirty="0"/>
              <a:t>类提供用户身份选择（学生、教师、教学秘书）、学生选课</a:t>
            </a:r>
            <a:r>
              <a:rPr lang="en-US" altLang="zh-CN" dirty="0"/>
              <a:t>/</a:t>
            </a:r>
            <a:r>
              <a:rPr lang="zh-CN" altLang="en-US" dirty="0"/>
              <a:t>退课操作、课程列表展示等功能，其中学生可登录后查看可选课程、进行选课或退课，并调用底层控制器（</a:t>
            </a:r>
            <a:r>
              <a:rPr lang="en-US" altLang="zh-CN" dirty="0" err="1"/>
              <a:t>CourseController</a:t>
            </a:r>
            <a:r>
              <a:rPr lang="zh-CN" altLang="en-US" dirty="0"/>
              <a:t>）处理业务逻辑，从而构建了一个基于控制台的学生选课系统交互流程。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组员分工汇报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77990" y="938151"/>
            <a:ext cx="3034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81B1CE"/>
                </a:solidFill>
              </a:rPr>
              <a:t>——</a:t>
            </a:r>
            <a:r>
              <a:rPr lang="zh-CN" altLang="en-US" sz="2000" b="1" dirty="0">
                <a:solidFill>
                  <a:srgbClr val="81B1CE"/>
                </a:solidFill>
              </a:rPr>
              <a:t>向治蓉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9" y="769441"/>
            <a:ext cx="6322481" cy="60380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99249" y="1589812"/>
            <a:ext cx="33559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这段代码实现了一个课程管理系统的业务逻辑层（</a:t>
            </a:r>
            <a:r>
              <a:rPr lang="en-US" altLang="zh-CN" dirty="0" err="1"/>
              <a:t>LogicLayer</a:t>
            </a:r>
            <a:r>
              <a:rPr lang="zh-CN" altLang="en-US" dirty="0"/>
              <a:t>），通过 </a:t>
            </a:r>
            <a:r>
              <a:rPr lang="en-US" altLang="zh-CN" dirty="0" err="1"/>
              <a:t>CourseController</a:t>
            </a:r>
            <a:r>
              <a:rPr lang="en-US" altLang="zh-CN" dirty="0"/>
              <a:t> </a:t>
            </a:r>
            <a:r>
              <a:rPr lang="zh-CN" altLang="en-US" dirty="0"/>
              <a:t>类封装了课程查询、学生信息获取、选课与退课等核心业务功能，并依赖数据访问层（</a:t>
            </a:r>
            <a:r>
              <a:rPr lang="en-US" altLang="zh-CN" dirty="0" err="1"/>
              <a:t>DataLayer</a:t>
            </a:r>
            <a:r>
              <a:rPr lang="zh-CN" altLang="en-US" dirty="0"/>
              <a:t>）进行持久化操作，从而在领域模型（</a:t>
            </a:r>
            <a:r>
              <a:rPr lang="en-US" altLang="zh-CN" dirty="0"/>
              <a:t>Domain</a:t>
            </a:r>
            <a:r>
              <a:rPr lang="zh-CN" altLang="en-US" dirty="0"/>
              <a:t>）与数据层之间建立桥梁，协调整个系统的业务规则与数据交互流程。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组员分工汇报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77990" y="938151"/>
            <a:ext cx="3034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81B1CE"/>
                </a:solidFill>
              </a:rPr>
              <a:t>——</a:t>
            </a:r>
            <a:r>
              <a:rPr lang="zh-CN" altLang="en-US" sz="2000" b="1" dirty="0">
                <a:solidFill>
                  <a:srgbClr val="81B1CE"/>
                </a:solidFill>
              </a:rPr>
              <a:t>向治蓉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" r="15154"/>
          <a:stretch>
            <a:fillRect/>
          </a:stretch>
        </p:blipFill>
        <p:spPr>
          <a:xfrm>
            <a:off x="37757" y="717550"/>
            <a:ext cx="4858093" cy="6140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25"/>
          <a:stretch>
            <a:fillRect/>
          </a:stretch>
        </p:blipFill>
        <p:spPr>
          <a:xfrm>
            <a:off x="4843415" y="1338260"/>
            <a:ext cx="4465685" cy="547528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223718" y="2021612"/>
            <a:ext cx="29305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这段代码实现了一个课程管理系统的数据访问层（</a:t>
            </a:r>
            <a:r>
              <a:rPr lang="en-US" altLang="zh-CN" dirty="0" err="1"/>
              <a:t>DataLayer</a:t>
            </a:r>
            <a:r>
              <a:rPr lang="zh-CN" altLang="en-US" dirty="0"/>
              <a:t>），通过定义抽象接口 </a:t>
            </a:r>
            <a:r>
              <a:rPr lang="en-US" altLang="zh-CN" dirty="0" err="1"/>
              <a:t>IDataAccess</a:t>
            </a:r>
            <a:r>
              <a:rPr lang="en-US" altLang="zh-CN" dirty="0"/>
              <a:t> </a:t>
            </a:r>
            <a:r>
              <a:rPr lang="zh-CN" altLang="en-US" dirty="0"/>
              <a:t>和其实现类 </a:t>
            </a:r>
            <a:r>
              <a:rPr lang="en-US" altLang="zh-CN" dirty="0" err="1"/>
              <a:t>MockDB</a:t>
            </a:r>
            <a:r>
              <a:rPr lang="zh-CN" altLang="en-US" dirty="0"/>
              <a:t>，封装了课程与学生数据的持久化操作，包括查询所有课程、根据</a:t>
            </a:r>
            <a:r>
              <a:rPr lang="en-US" altLang="zh-CN" dirty="0"/>
              <a:t>ID</a:t>
            </a:r>
            <a:r>
              <a:rPr lang="zh-CN" altLang="en-US" dirty="0"/>
              <a:t>查找学生、选课与退课等核心功能，并使用内存中的模拟数据（如预置的课程和学生信息）来模拟数据库交互，为上层业务逻辑提供数据支持。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29" y="-398778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组员分工汇报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46421" y="900311"/>
            <a:ext cx="287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81B1CE"/>
                </a:solidFill>
              </a:rPr>
              <a:t>——</a:t>
            </a:r>
            <a:r>
              <a:rPr lang="zh-CN" altLang="en-US" sz="2000" b="1" dirty="0">
                <a:solidFill>
                  <a:srgbClr val="81B1CE"/>
                </a:solidFill>
              </a:rPr>
              <a:t>龚清涛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662" y="931089"/>
            <a:ext cx="311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Datalayer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20319" y="1525941"/>
            <a:ext cx="567859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// </a:t>
            </a:r>
            <a:r>
              <a:rPr lang="zh-CN" altLang="en-US" dirty="0"/>
              <a:t>根据</a:t>
            </a:r>
            <a:r>
              <a:rPr lang="en-US" altLang="zh-CN" dirty="0"/>
              <a:t>ID</a:t>
            </a:r>
            <a:r>
              <a:rPr lang="zh-CN" altLang="en-US" dirty="0"/>
              <a:t>查教师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virtual std::optional&lt;Teacher&gt; getTeacherById(const std::string&amp; id) = 0;</a:t>
            </a:r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获取教师授课列表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virtual std::vector&lt;Course&gt; getTeachingCourses(const std::string&amp; teacherId) = 0;</a:t>
            </a:r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获取课程选课学生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virtual std::vector&lt;Student&gt; getCourseStudents(const std::string&amp; courseId) = 0;</a:t>
            </a:r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更新学生成绩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virtual bool updateStudentGrade(const std::string&amp; studentId, const std::string&amp; courseId, double grade) = 0;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835852" y="1948667"/>
            <a:ext cx="599310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/>
              <a:t>1</a:t>
            </a:r>
            <a:r>
              <a:rPr lang="en-US" altLang="zh-CN" sz="1200" dirty="0"/>
              <a:t>. </a:t>
            </a:r>
            <a:r>
              <a:rPr lang="zh-CN" altLang="en-US" sz="1200" dirty="0"/>
              <a:t>教师数据模型与管理：新增了 </a:t>
            </a:r>
            <a:r>
              <a:rPr lang="en-US" altLang="zh-CN" sz="1200" dirty="0"/>
              <a:t>Teacher </a:t>
            </a:r>
            <a:r>
              <a:rPr lang="zh-CN" altLang="en-US" sz="1200" dirty="0"/>
              <a:t>类支持，在 </a:t>
            </a:r>
            <a:r>
              <a:rPr lang="en-US" altLang="zh-CN" sz="1200" dirty="0"/>
              <a:t>MockDB </a:t>
            </a:r>
            <a:r>
              <a:rPr lang="zh-CN" altLang="en-US" sz="1200" dirty="0"/>
              <a:t>中添加了 </a:t>
            </a:r>
            <a:r>
              <a:rPr lang="en-US" altLang="zh-CN" sz="1200" dirty="0"/>
              <a:t>teachers </a:t>
            </a:r>
            <a:r>
              <a:rPr lang="zh-CN" altLang="en-US" sz="1200" dirty="0"/>
              <a:t>数据集合，并实现了教师信息的初始化（如李教授、王教授）和关联关系管理（通过 </a:t>
            </a:r>
            <a:r>
              <a:rPr lang="en-US" altLang="zh-CN" sz="1200" dirty="0"/>
              <a:t>addTeachingCourse </a:t>
            </a:r>
            <a:r>
              <a:rPr lang="zh-CN" altLang="en-US" sz="1200" dirty="0"/>
              <a:t>绑定教师与课程）。</a:t>
            </a:r>
          </a:p>
          <a:p>
            <a:r>
              <a:rPr lang="en-US" altLang="zh-CN" sz="1200" dirty="0"/>
              <a:t>2. </a:t>
            </a:r>
            <a:r>
              <a:rPr lang="zh-CN" altLang="en-US" sz="1200" dirty="0"/>
              <a:t>教师相关查询接口：在 </a:t>
            </a:r>
            <a:r>
              <a:rPr lang="en-US" altLang="zh-CN" sz="1200" dirty="0"/>
              <a:t>IDataAccess </a:t>
            </a:r>
            <a:r>
              <a:rPr lang="zh-CN" altLang="en-US" sz="1200" dirty="0"/>
              <a:t>接口中新增了 </a:t>
            </a:r>
            <a:r>
              <a:rPr lang="en-US" altLang="zh-CN" sz="1200" dirty="0"/>
              <a:t>getTeacherById</a:t>
            </a:r>
            <a:r>
              <a:rPr lang="zh-CN" altLang="en-US" sz="1200" dirty="0"/>
              <a:t>（按</a:t>
            </a:r>
            <a:r>
              <a:rPr lang="en-US" altLang="zh-CN" sz="1200" dirty="0"/>
              <a:t>ID</a:t>
            </a:r>
            <a:r>
              <a:rPr lang="zh-CN" altLang="en-US" sz="1200" dirty="0"/>
              <a:t>查询教师）和 </a:t>
            </a:r>
            <a:r>
              <a:rPr lang="en-US" altLang="zh-CN" sz="1200" dirty="0"/>
              <a:t>getTeachingCourses</a:t>
            </a:r>
            <a:r>
              <a:rPr lang="zh-CN" altLang="en-US" sz="1200" dirty="0"/>
              <a:t>（获取教师授课列表）方法，并在 </a:t>
            </a:r>
            <a:r>
              <a:rPr lang="en-US" altLang="zh-CN" sz="1200" dirty="0"/>
              <a:t>MockDB </a:t>
            </a:r>
            <a:r>
              <a:rPr lang="zh-CN" altLang="en-US" sz="1200" dirty="0"/>
              <a:t>中实现了具体逻辑。</a:t>
            </a:r>
          </a:p>
          <a:p>
            <a:r>
              <a:rPr lang="en-US" altLang="zh-CN" sz="1200" dirty="0"/>
              <a:t>3. </a:t>
            </a:r>
            <a:r>
              <a:rPr lang="zh-CN" altLang="en-US" sz="1200" dirty="0"/>
              <a:t>课程与学生关联查询：新增了 </a:t>
            </a:r>
            <a:r>
              <a:rPr lang="en-US" altLang="zh-CN" sz="1200" dirty="0"/>
              <a:t>getCourseStudents </a:t>
            </a:r>
            <a:r>
              <a:rPr lang="zh-CN" altLang="en-US" sz="1200" dirty="0"/>
              <a:t>接口，支持查询某门课程的选课学生列表，通过遍历学生选课记录实现。</a:t>
            </a:r>
          </a:p>
          <a:p>
            <a:r>
              <a:rPr lang="en-US" altLang="zh-CN" sz="1200" dirty="0"/>
              <a:t>4. </a:t>
            </a:r>
            <a:r>
              <a:rPr lang="zh-CN" altLang="en-US" sz="1200" dirty="0"/>
              <a:t>成绩管理功能：新增了 </a:t>
            </a:r>
            <a:r>
              <a:rPr lang="en-US" altLang="zh-CN" sz="1200" dirty="0"/>
              <a:t>updateStudentGrade </a:t>
            </a:r>
            <a:r>
              <a:rPr lang="zh-CN" altLang="en-US" sz="1200" dirty="0"/>
              <a:t>接口，允许更新学生在特定课程的成绩，并在 </a:t>
            </a:r>
            <a:r>
              <a:rPr lang="en-US" altLang="zh-CN" sz="1200" dirty="0"/>
              <a:t>Student </a:t>
            </a:r>
            <a:r>
              <a:rPr lang="zh-CN" altLang="en-US" sz="1200" dirty="0"/>
              <a:t>类中通过 </a:t>
            </a:r>
            <a:r>
              <a:rPr lang="en-US" altLang="zh-CN" sz="1200" dirty="0"/>
              <a:t>courseGrades </a:t>
            </a:r>
            <a:r>
              <a:rPr lang="zh-CN" altLang="en-US" sz="1200" dirty="0"/>
              <a:t>映射表存储和更新成绩数据。</a:t>
            </a:r>
          </a:p>
          <a:p>
            <a:r>
              <a:rPr lang="en-US" altLang="zh-CN" sz="1200" dirty="0"/>
              <a:t>5. </a:t>
            </a:r>
            <a:r>
              <a:rPr lang="zh-CN" altLang="en-US" sz="1200" dirty="0"/>
              <a:t>课程与教师的关联扩展：在 </a:t>
            </a:r>
            <a:r>
              <a:rPr lang="en-US" altLang="zh-CN" sz="1200" dirty="0"/>
              <a:t>Course </a:t>
            </a:r>
            <a:r>
              <a:rPr lang="zh-CN" altLang="en-US" sz="1200" dirty="0"/>
              <a:t>类中增加了 </a:t>
            </a:r>
            <a:r>
              <a:rPr lang="en-US" altLang="zh-CN" sz="1200" dirty="0"/>
              <a:t>teacherId </a:t>
            </a:r>
            <a:r>
              <a:rPr lang="zh-CN" altLang="en-US" sz="1200" dirty="0"/>
              <a:t>字段，使课程能关联授课教师，并在构造函数中初始化关联关系。</a:t>
            </a:r>
          </a:p>
          <a:p>
            <a:r>
              <a:rPr lang="en-US" altLang="zh-CN" sz="1200" dirty="0"/>
              <a:t>6. </a:t>
            </a:r>
            <a:r>
              <a:rPr lang="zh-CN" altLang="en-US" sz="1200" dirty="0"/>
              <a:t>选课</a:t>
            </a:r>
            <a:r>
              <a:rPr lang="en-US" altLang="zh-CN" sz="1200" dirty="0"/>
              <a:t>/</a:t>
            </a:r>
            <a:r>
              <a:rPr lang="zh-CN" altLang="en-US" sz="1200" dirty="0"/>
              <a:t>退课逻辑增强：完善了 </a:t>
            </a:r>
            <a:r>
              <a:rPr lang="en-US" altLang="zh-CN" sz="1200" dirty="0"/>
              <a:t>enrollStudent </a:t>
            </a:r>
            <a:r>
              <a:rPr lang="zh-CN" altLang="en-US" sz="1200" dirty="0"/>
              <a:t>和 </a:t>
            </a:r>
            <a:r>
              <a:rPr lang="en-US" altLang="zh-CN" sz="1200" dirty="0"/>
              <a:t>dropCourse </a:t>
            </a:r>
            <a:r>
              <a:rPr lang="zh-CN" altLang="en-US" sz="1200" dirty="0"/>
              <a:t>的实现，增加了课程容量检查（</a:t>
            </a:r>
            <a:r>
              <a:rPr lang="en-US" altLang="zh-CN" sz="1200" dirty="0"/>
              <a:t>isFull</a:t>
            </a:r>
            <a:r>
              <a:rPr lang="zh-CN" altLang="en-US" sz="1200" dirty="0"/>
              <a:t>）、学生选课状态验证（</a:t>
            </a:r>
            <a:r>
              <a:rPr lang="en-US" altLang="zh-CN" sz="1200" dirty="0"/>
              <a:t>isEnrolled</a:t>
            </a:r>
            <a:r>
              <a:rPr lang="zh-CN" altLang="en-US" sz="1200" dirty="0"/>
              <a:t>）以及教师关联数据的同步更新。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组员分工汇报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46421" y="896587"/>
            <a:ext cx="287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81B1CE"/>
                </a:solidFill>
              </a:rPr>
              <a:t>——</a:t>
            </a:r>
            <a:r>
              <a:rPr lang="zh-CN" altLang="en-US" sz="2000" b="1" dirty="0">
                <a:solidFill>
                  <a:srgbClr val="81B1CE"/>
                </a:solidFill>
              </a:rPr>
              <a:t>龚清涛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92" y="1240555"/>
            <a:ext cx="3313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pressentation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69855" y="1609887"/>
            <a:ext cx="6096000" cy="46474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800" dirty="0"/>
              <a:t>MockDB::MockDB() {</a:t>
            </a:r>
          </a:p>
          <a:p>
            <a:r>
              <a:rPr lang="en-US" altLang="zh-CN" sz="800" dirty="0"/>
              <a:t>    // </a:t>
            </a:r>
            <a:r>
              <a:rPr lang="zh-CN" altLang="en-US" sz="800" dirty="0"/>
              <a:t>初始化教师数据</a:t>
            </a:r>
          </a:p>
          <a:p>
            <a:r>
              <a:rPr lang="zh-CN" altLang="en-US" sz="800" dirty="0"/>
              <a:t>    </a:t>
            </a:r>
            <a:r>
              <a:rPr lang="en-US" altLang="zh-CN" sz="800" dirty="0"/>
              <a:t>teachers = {</a:t>
            </a:r>
          </a:p>
          <a:p>
            <a:r>
              <a:rPr lang="en-US" altLang="zh-CN" sz="800" dirty="0"/>
              <a:t>        Teacher("T001", "</a:t>
            </a:r>
            <a:r>
              <a:rPr lang="zh-CN" altLang="en-US" sz="800" dirty="0"/>
              <a:t>李教授</a:t>
            </a:r>
            <a:r>
              <a:rPr lang="en-US" altLang="zh-CN" sz="800" dirty="0"/>
              <a:t>"),</a:t>
            </a:r>
          </a:p>
          <a:p>
            <a:r>
              <a:rPr lang="en-US" altLang="zh-CN" sz="800" dirty="0"/>
              <a:t>        Teacher("T002", "</a:t>
            </a:r>
            <a:r>
              <a:rPr lang="zh-CN" altLang="en-US" sz="800" dirty="0"/>
              <a:t>王教授</a:t>
            </a:r>
            <a:r>
              <a:rPr lang="en-US" altLang="zh-CN" sz="800" dirty="0"/>
              <a:t>")</a:t>
            </a:r>
          </a:p>
          <a:p>
            <a:r>
              <a:rPr lang="en-US" altLang="zh-CN" sz="800" dirty="0"/>
              <a:t>    </a:t>
            </a:r>
            <a:r>
              <a:rPr lang="en-US" altLang="zh-CN" sz="800" dirty="0" smtClean="0"/>
              <a:t>};</a:t>
            </a:r>
            <a:endParaRPr lang="en-US" altLang="zh-CN" sz="800" dirty="0"/>
          </a:p>
          <a:p>
            <a:r>
              <a:rPr lang="en-US" altLang="zh-CN" sz="800" dirty="0"/>
              <a:t>    // </a:t>
            </a:r>
            <a:r>
              <a:rPr lang="zh-CN" altLang="en-US" sz="800" dirty="0"/>
              <a:t>初始化课程数据（关联教师）</a:t>
            </a:r>
          </a:p>
          <a:p>
            <a:r>
              <a:rPr lang="zh-CN" altLang="en-US" sz="800" dirty="0"/>
              <a:t>    </a:t>
            </a:r>
            <a:r>
              <a:rPr lang="en-US" altLang="zh-CN" sz="800" dirty="0"/>
              <a:t>courses = {</a:t>
            </a:r>
          </a:p>
          <a:p>
            <a:r>
              <a:rPr lang="en-US" altLang="zh-CN" sz="800" dirty="0"/>
              <a:t>        Course("CS101", "</a:t>
            </a:r>
            <a:r>
              <a:rPr lang="zh-CN" altLang="en-US" sz="800" dirty="0"/>
              <a:t>程序设计基础</a:t>
            </a:r>
            <a:r>
              <a:rPr lang="en-US" altLang="zh-CN" sz="800" dirty="0"/>
              <a:t>", 3, 30, "T001"),</a:t>
            </a:r>
          </a:p>
          <a:p>
            <a:r>
              <a:rPr lang="en-US" altLang="zh-CN" sz="800" dirty="0"/>
              <a:t>        Course("CS102", "</a:t>
            </a:r>
            <a:r>
              <a:rPr lang="zh-CN" altLang="en-US" sz="800" dirty="0"/>
              <a:t>数据结构</a:t>
            </a:r>
            <a:r>
              <a:rPr lang="en-US" altLang="zh-CN" sz="800" dirty="0"/>
              <a:t>", 4, 25, "T001"),</a:t>
            </a:r>
          </a:p>
          <a:p>
            <a:r>
              <a:rPr lang="en-US" altLang="zh-CN" sz="800" dirty="0"/>
              <a:t>        Course("MATH101", "</a:t>
            </a:r>
            <a:r>
              <a:rPr lang="zh-CN" altLang="en-US" sz="800" dirty="0"/>
              <a:t>高等数学</a:t>
            </a:r>
            <a:r>
              <a:rPr lang="en-US" altLang="zh-CN" sz="800" dirty="0"/>
              <a:t>", 4, 40, "T002")</a:t>
            </a:r>
          </a:p>
          <a:p>
            <a:r>
              <a:rPr lang="en-US" altLang="zh-CN" sz="800" dirty="0"/>
              <a:t>    </a:t>
            </a:r>
            <a:r>
              <a:rPr lang="en-US" altLang="zh-CN" sz="800" dirty="0" smtClean="0"/>
              <a:t>};</a:t>
            </a:r>
            <a:endParaRPr lang="en-US" altLang="zh-CN" sz="800" dirty="0"/>
          </a:p>
          <a:p>
            <a:r>
              <a:rPr lang="en-US" altLang="zh-CN" sz="800" dirty="0"/>
              <a:t>    students = {</a:t>
            </a:r>
          </a:p>
          <a:p>
            <a:r>
              <a:rPr lang="en-US" altLang="zh-CN" sz="800" dirty="0"/>
              <a:t>        Student("S001", "</a:t>
            </a:r>
            <a:r>
              <a:rPr lang="zh-CN" altLang="en-US" sz="800" dirty="0"/>
              <a:t>张三</a:t>
            </a:r>
            <a:r>
              <a:rPr lang="en-US" altLang="zh-CN" sz="800" dirty="0"/>
              <a:t>"),</a:t>
            </a:r>
          </a:p>
          <a:p>
            <a:r>
              <a:rPr lang="en-US" altLang="zh-CN" sz="800" dirty="0"/>
              <a:t>        Student("S002", "</a:t>
            </a:r>
            <a:r>
              <a:rPr lang="zh-CN" altLang="en-US" sz="800" dirty="0"/>
              <a:t>李四</a:t>
            </a:r>
            <a:r>
              <a:rPr lang="en-US" altLang="zh-CN" sz="800" dirty="0"/>
              <a:t>")</a:t>
            </a:r>
          </a:p>
          <a:p>
            <a:r>
              <a:rPr lang="en-US" altLang="zh-CN" sz="800" dirty="0"/>
              <a:t>    </a:t>
            </a:r>
            <a:r>
              <a:rPr lang="en-US" altLang="zh-CN" sz="800" dirty="0" smtClean="0"/>
              <a:t>};</a:t>
            </a:r>
            <a:endParaRPr lang="en-US" altLang="zh-CN" sz="800" dirty="0"/>
          </a:p>
          <a:p>
            <a:r>
              <a:rPr lang="en-US" altLang="zh-CN" sz="800" dirty="0"/>
              <a:t>    // </a:t>
            </a:r>
            <a:r>
              <a:rPr lang="zh-CN" altLang="en-US" sz="800" dirty="0"/>
              <a:t>设置教师授课关系</a:t>
            </a:r>
          </a:p>
          <a:p>
            <a:r>
              <a:rPr lang="zh-CN" altLang="en-US" sz="800" dirty="0"/>
              <a:t>    </a:t>
            </a:r>
            <a:r>
              <a:rPr lang="en-US" altLang="zh-CN" sz="800" dirty="0"/>
              <a:t>teachers[0].addTeachingCourse("CS101");</a:t>
            </a:r>
          </a:p>
          <a:p>
            <a:r>
              <a:rPr lang="en-US" altLang="zh-CN" sz="800" dirty="0"/>
              <a:t>    teachers[0].addTeachingCourse("CS102");</a:t>
            </a:r>
          </a:p>
          <a:p>
            <a:r>
              <a:rPr lang="en-US" altLang="zh-CN" sz="800" dirty="0"/>
              <a:t>    teachers[1].addTeachingCourse("MATH101</a:t>
            </a:r>
            <a:r>
              <a:rPr lang="en-US" altLang="zh-CN" sz="800" dirty="0" smtClean="0"/>
              <a:t>");</a:t>
            </a:r>
            <a:endParaRPr lang="en-US" altLang="zh-CN" sz="800" dirty="0"/>
          </a:p>
          <a:p>
            <a:r>
              <a:rPr lang="en-US" altLang="zh-CN" sz="800" dirty="0"/>
              <a:t>    // </a:t>
            </a:r>
            <a:r>
              <a:rPr lang="zh-CN" altLang="en-US" sz="800" dirty="0"/>
              <a:t>初始化一些选课记录</a:t>
            </a:r>
          </a:p>
          <a:p>
            <a:r>
              <a:rPr lang="zh-CN" altLang="en-US" sz="800" dirty="0"/>
              <a:t>    </a:t>
            </a:r>
            <a:r>
              <a:rPr lang="en-US" altLang="zh-CN" sz="800" dirty="0"/>
              <a:t>enrollStudent("S001", "CS101");</a:t>
            </a:r>
          </a:p>
          <a:p>
            <a:r>
              <a:rPr lang="en-US" altLang="zh-CN" sz="800" dirty="0"/>
              <a:t>    enrollStudent("S001", "CS102");</a:t>
            </a:r>
          </a:p>
          <a:p>
            <a:r>
              <a:rPr lang="en-US" altLang="zh-CN" sz="800" dirty="0"/>
              <a:t>    enrollStudent("S002", "CS101");</a:t>
            </a:r>
          </a:p>
          <a:p>
            <a:r>
              <a:rPr lang="en-US" altLang="zh-CN" sz="800" dirty="0"/>
              <a:t>    enrollStudent("S002", "MATH101");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std::vector&lt;Course&gt; MockDB::getAllCourses() {</a:t>
            </a:r>
          </a:p>
          <a:p>
            <a:r>
              <a:rPr lang="en-US" altLang="zh-CN" sz="800" dirty="0"/>
              <a:t>    return courses;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std::optional&lt;Student&gt; MockDB::getStudentById(const std::string&amp; id) {</a:t>
            </a:r>
          </a:p>
          <a:p>
            <a:r>
              <a:rPr lang="en-US" altLang="zh-CN" sz="800" dirty="0"/>
              <a:t>    for (auto&amp; student : students) {</a:t>
            </a:r>
          </a:p>
          <a:p>
            <a:r>
              <a:rPr lang="en-US" altLang="zh-CN" sz="800" dirty="0"/>
              <a:t>        if (student.id == id) {</a:t>
            </a:r>
          </a:p>
          <a:p>
            <a:r>
              <a:rPr lang="en-US" altLang="zh-CN" sz="800" dirty="0"/>
              <a:t>            return student;</a:t>
            </a:r>
          </a:p>
          <a:p>
            <a:r>
              <a:rPr lang="en-US" altLang="zh-CN" sz="800" dirty="0"/>
              <a:t>        }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/>
              <a:t>    return std::nullopt;</a:t>
            </a:r>
          </a:p>
          <a:p>
            <a:r>
              <a:rPr lang="en-US" altLang="zh-CN" sz="800" dirty="0"/>
              <a:t>}</a:t>
            </a:r>
            <a:endParaRPr lang="zh-CN" altLang="en-US" sz="800" dirty="0"/>
          </a:p>
        </p:txBody>
      </p:sp>
      <p:sp>
        <p:nvSpPr>
          <p:cNvPr id="6" name="矩形 5"/>
          <p:cNvSpPr/>
          <p:nvPr/>
        </p:nvSpPr>
        <p:spPr>
          <a:xfrm>
            <a:off x="3956575" y="1672266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完整的教师操作功能：新增了 </a:t>
            </a:r>
            <a:r>
              <a:rPr lang="en-US" altLang="zh-CN" dirty="0"/>
              <a:t>teacherLoopImpl() </a:t>
            </a:r>
            <a:r>
              <a:rPr lang="zh-CN" altLang="en-US" dirty="0"/>
              <a:t>方法，实现了教师的主操作循环，包括查看授课列表、查看课程选课学生、录入</a:t>
            </a:r>
            <a:r>
              <a:rPr lang="en-US" altLang="zh-CN" dirty="0"/>
              <a:t>/</a:t>
            </a:r>
            <a:r>
              <a:rPr lang="zh-CN" altLang="en-US" dirty="0"/>
              <a:t>修改成绩等功能。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课程学生管理：新增了 </a:t>
            </a:r>
            <a:r>
              <a:rPr lang="en-US" altLang="zh-CN" dirty="0"/>
              <a:t>showCourseStudents() </a:t>
            </a:r>
            <a:r>
              <a:rPr lang="zh-CN" altLang="en-US" dirty="0"/>
              <a:t>方法，允许教师查看指定课程的选课学生列表及其成绩状态。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成绩录入与修改：新增了 </a:t>
            </a:r>
            <a:r>
              <a:rPr lang="en-US" altLang="zh-CN" dirty="0"/>
              <a:t>handleGradeInput() </a:t>
            </a:r>
            <a:r>
              <a:rPr lang="zh-CN" altLang="en-US" dirty="0"/>
              <a:t>方法，支持教师为所选课程的学生批量录入或修改成绩，并实时反馈操作结果。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学生成绩显示优化：在学生的已选课程列表中，增加了成绩显示逻辑，区分已录入成绩和未录入状态。</a:t>
            </a:r>
          </a:p>
          <a:p>
            <a:r>
              <a:rPr lang="en-US" altLang="zh-CN" dirty="0"/>
              <a:t>5. </a:t>
            </a:r>
            <a:r>
              <a:rPr lang="zh-CN" altLang="en-US" dirty="0"/>
              <a:t>身份验证与默认账号：在 </a:t>
            </a:r>
            <a:r>
              <a:rPr lang="en-US" altLang="zh-CN" dirty="0"/>
              <a:t>run() </a:t>
            </a:r>
            <a:r>
              <a:rPr lang="zh-CN" altLang="en-US" dirty="0"/>
              <a:t>方法中为教师和学生设置了默认账号（如教师工号 </a:t>
            </a:r>
            <a:r>
              <a:rPr lang="en-US" altLang="zh-CN" dirty="0"/>
              <a:t>T001</a:t>
            </a:r>
            <a:r>
              <a:rPr lang="zh-CN" altLang="en-US" dirty="0"/>
              <a:t>、学生学号 </a:t>
            </a:r>
            <a:r>
              <a:rPr lang="en-US" altLang="zh-CN" dirty="0"/>
              <a:t>S001</a:t>
            </a:r>
            <a:r>
              <a:rPr lang="zh-CN" altLang="en-US" dirty="0"/>
              <a:t>），简化登录流程。</a:t>
            </a:r>
          </a:p>
          <a:p>
            <a:r>
              <a:rPr lang="en-US" altLang="zh-CN" dirty="0"/>
              <a:t>6. </a:t>
            </a:r>
            <a:r>
              <a:rPr lang="zh-CN" altLang="en-US" dirty="0"/>
              <a:t>错误处理增强：增加了对无效输入、空数据（如无授课课程或无选课学生）的提示，提升了用户体验。</a:t>
            </a:r>
          </a:p>
        </p:txBody>
      </p:sp>
    </p:spTree>
    <p:extLst>
      <p:ext uri="{BB962C8B-B14F-4D97-AF65-F5344CB8AC3E}">
        <p14:creationId xmlns:p14="http://schemas.microsoft.com/office/powerpoint/2010/main" val="1764143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1487" y="-419635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组员分工汇报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46421" y="896587"/>
            <a:ext cx="287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81B1CE"/>
                </a:solidFill>
              </a:rPr>
              <a:t>——</a:t>
            </a:r>
            <a:r>
              <a:rPr lang="zh-CN" altLang="en-US" sz="2000" b="1" dirty="0">
                <a:solidFill>
                  <a:srgbClr val="81B1CE"/>
                </a:solidFill>
              </a:rPr>
              <a:t>龚清涛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133" y="15388"/>
            <a:ext cx="354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logiclayer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2918" y="417124"/>
            <a:ext cx="6096000" cy="61247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800" dirty="0"/>
              <a:t>Teacher&amp; teacher = teacherOpt.value();</a:t>
            </a:r>
          </a:p>
          <a:p>
            <a:r>
              <a:rPr lang="en-US" altLang="zh-CN" sz="800" dirty="0"/>
              <a:t>        std::cout &lt;&lt; "[</a:t>
            </a:r>
            <a:r>
              <a:rPr lang="zh-CN" altLang="en-US" sz="800" dirty="0"/>
              <a:t>教师</a:t>
            </a:r>
            <a:r>
              <a:rPr lang="en-US" altLang="zh-CN" sz="800" dirty="0"/>
              <a:t>] " &lt;&lt; teacher.name &lt;&lt; "</a:t>
            </a:r>
            <a:r>
              <a:rPr lang="zh-CN" altLang="en-US" sz="800" dirty="0"/>
              <a:t>（工号：</a:t>
            </a:r>
            <a:r>
              <a:rPr lang="en-US" altLang="zh-CN" sz="800" dirty="0"/>
              <a:t>" &lt;&lt; teacher.id &lt;&lt; "</a:t>
            </a:r>
            <a:r>
              <a:rPr lang="zh-CN" altLang="en-US" sz="800" dirty="0"/>
              <a:t>）您好！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std::cout &lt;&lt; "</a:t>
            </a:r>
            <a:r>
              <a:rPr lang="zh-CN" altLang="en-US" sz="800" dirty="0"/>
              <a:t>请选择操作：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std::cout &lt;&lt; "1. </a:t>
            </a:r>
            <a:r>
              <a:rPr lang="zh-CN" altLang="en-US" sz="800" dirty="0"/>
              <a:t>查看我的授课列表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std::cout &lt;&lt; "2. </a:t>
            </a:r>
            <a:r>
              <a:rPr lang="zh-CN" altLang="en-US" sz="800" dirty="0"/>
              <a:t>查看课程选课学生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std::cout &lt;&lt; "3. </a:t>
            </a:r>
            <a:r>
              <a:rPr lang="zh-CN" altLang="en-US" sz="800" dirty="0"/>
              <a:t>录入</a:t>
            </a:r>
            <a:r>
              <a:rPr lang="en-US" altLang="zh-CN" sz="800" dirty="0"/>
              <a:t>/</a:t>
            </a:r>
            <a:r>
              <a:rPr lang="zh-CN" altLang="en-US" sz="800" dirty="0"/>
              <a:t>修改课程成绩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std::cout &lt;&lt; "4. </a:t>
            </a:r>
            <a:r>
              <a:rPr lang="zh-CN" altLang="en-US" sz="800" dirty="0"/>
              <a:t>返回上级菜单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std::cout &lt;&lt; "</a:t>
            </a:r>
            <a:r>
              <a:rPr lang="zh-CN" altLang="en-US" sz="800" dirty="0"/>
              <a:t>请输入选项（</a:t>
            </a:r>
            <a:r>
              <a:rPr lang="en-US" altLang="zh-CN" sz="800" dirty="0"/>
              <a:t>1-4</a:t>
            </a:r>
            <a:r>
              <a:rPr lang="zh-CN" altLang="en-US" sz="800" dirty="0"/>
              <a:t>）：</a:t>
            </a:r>
            <a:r>
              <a:rPr lang="en-US" altLang="zh-CN" sz="800" dirty="0" smtClean="0"/>
              <a:t>";</a:t>
            </a:r>
            <a:endParaRPr lang="en-US" altLang="zh-CN" sz="800" dirty="0"/>
          </a:p>
          <a:p>
            <a:r>
              <a:rPr lang="en-US" altLang="zh-CN" sz="800" dirty="0"/>
              <a:t>        std::cin &gt;&gt; choice</a:t>
            </a:r>
            <a:r>
              <a:rPr lang="en-US" altLang="zh-CN" sz="800" dirty="0" smtClean="0"/>
              <a:t>;</a:t>
            </a:r>
            <a:endParaRPr lang="en-US" altLang="zh-CN" sz="800" dirty="0"/>
          </a:p>
          <a:p>
            <a:r>
              <a:rPr lang="en-US" altLang="zh-CN" sz="800" dirty="0"/>
              <a:t>        switch (choice) {</a:t>
            </a:r>
          </a:p>
          <a:p>
            <a:r>
              <a:rPr lang="en-US" altLang="zh-CN" sz="800" dirty="0"/>
              <a:t>            case 1: {</a:t>
            </a:r>
          </a:p>
          <a:p>
            <a:r>
              <a:rPr lang="en-US" altLang="zh-CN" sz="800" dirty="0"/>
              <a:t>                auto courses = controller-&gt;getTeachingCourses(currentTeacherId);</a:t>
            </a:r>
          </a:p>
          <a:p>
            <a:r>
              <a:rPr lang="en-US" altLang="zh-CN" sz="800" dirty="0"/>
              <a:t>                std::cout &lt;&lt; "\n</a:t>
            </a:r>
            <a:r>
              <a:rPr lang="zh-CN" altLang="en-US" sz="800" dirty="0"/>
              <a:t>授课列表：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        for (const auto&amp; course : courses) {</a:t>
            </a:r>
          </a:p>
          <a:p>
            <a:r>
              <a:rPr lang="en-US" altLang="zh-CN" sz="800" dirty="0"/>
              <a:t>                    std::cout &lt;&lt; course.toString() &lt;&lt; std::endl;</a:t>
            </a:r>
          </a:p>
          <a:p>
            <a:r>
              <a:rPr lang="en-US" altLang="zh-CN" sz="800" dirty="0"/>
              <a:t>                }</a:t>
            </a:r>
          </a:p>
          <a:p>
            <a:r>
              <a:rPr lang="en-US" altLang="zh-CN" sz="800" dirty="0"/>
              <a:t>                break;</a:t>
            </a:r>
          </a:p>
          <a:p>
            <a:r>
              <a:rPr lang="en-US" altLang="zh-CN" sz="800" dirty="0"/>
              <a:t>            }</a:t>
            </a:r>
          </a:p>
          <a:p>
            <a:r>
              <a:rPr lang="en-US" altLang="zh-CN" sz="800" dirty="0"/>
              <a:t>            case 2:</a:t>
            </a:r>
          </a:p>
          <a:p>
            <a:r>
              <a:rPr lang="en-US" altLang="zh-CN" sz="800" dirty="0"/>
              <a:t>                showCourseStudents();</a:t>
            </a:r>
          </a:p>
          <a:p>
            <a:r>
              <a:rPr lang="en-US" altLang="zh-CN" sz="800" dirty="0"/>
              <a:t>                break;</a:t>
            </a:r>
          </a:p>
          <a:p>
            <a:r>
              <a:rPr lang="en-US" altLang="zh-CN" sz="800" dirty="0"/>
              <a:t>            case 3:</a:t>
            </a:r>
          </a:p>
          <a:p>
            <a:r>
              <a:rPr lang="en-US" altLang="zh-CN" sz="800" dirty="0"/>
              <a:t>                handleGradeInput();</a:t>
            </a:r>
          </a:p>
          <a:p>
            <a:r>
              <a:rPr lang="en-US" altLang="zh-CN" sz="800" dirty="0"/>
              <a:t>                break;</a:t>
            </a:r>
          </a:p>
          <a:p>
            <a:r>
              <a:rPr lang="en-US" altLang="zh-CN" sz="800" dirty="0"/>
              <a:t>            case 4:</a:t>
            </a:r>
          </a:p>
          <a:p>
            <a:r>
              <a:rPr lang="en-US" altLang="zh-CN" sz="800" dirty="0"/>
              <a:t>                return;</a:t>
            </a:r>
          </a:p>
          <a:p>
            <a:r>
              <a:rPr lang="en-US" altLang="zh-CN" sz="800" dirty="0"/>
              <a:t>            default:</a:t>
            </a:r>
          </a:p>
          <a:p>
            <a:r>
              <a:rPr lang="en-US" altLang="zh-CN" sz="800" dirty="0"/>
              <a:t>                std::cout &lt;&lt; "</a:t>
            </a:r>
            <a:r>
              <a:rPr lang="zh-CN" altLang="en-US" sz="800" dirty="0"/>
              <a:t>无效选项，请重新输入！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}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void ConsoleView::showCourseStudents() {</a:t>
            </a:r>
          </a:p>
          <a:p>
            <a:r>
              <a:rPr lang="en-US" altLang="zh-CN" sz="800" dirty="0"/>
              <a:t>    auto courses = controller-&gt;getTeachingCourses(currentTeacherId);</a:t>
            </a:r>
          </a:p>
          <a:p>
            <a:r>
              <a:rPr lang="en-US" altLang="zh-CN" sz="800" dirty="0"/>
              <a:t>    if (courses.empty()) {</a:t>
            </a:r>
          </a:p>
          <a:p>
            <a:r>
              <a:rPr lang="en-US" altLang="zh-CN" sz="800" dirty="0"/>
              <a:t>        std::cout &lt;&lt; "</a:t>
            </a:r>
            <a:r>
              <a:rPr lang="zh-CN" altLang="en-US" sz="800" dirty="0"/>
              <a:t>您当前没有授课课程！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return;</a:t>
            </a:r>
          </a:p>
          <a:p>
            <a:r>
              <a:rPr lang="en-US" altLang="zh-CN" sz="800" dirty="0"/>
              <a:t>    </a:t>
            </a:r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    std::cout &lt;&lt; "\n</a:t>
            </a:r>
            <a:r>
              <a:rPr lang="zh-CN" altLang="en-US" sz="800" dirty="0"/>
              <a:t>请选择要查看的课程：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for (size_t i = 0; i &lt; courses.size(); ++i) {</a:t>
            </a:r>
          </a:p>
          <a:p>
            <a:r>
              <a:rPr lang="en-US" altLang="zh-CN" sz="800" dirty="0"/>
              <a:t>        std::cout &lt;&lt; i + 1 &lt;&lt; ". " &lt;&lt; courses[i].toString() &lt;&lt; std::endl;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/>
              <a:t>    std::cout &lt;&lt; "</a:t>
            </a:r>
            <a:r>
              <a:rPr lang="zh-CN" altLang="en-US" sz="800" dirty="0"/>
              <a:t>请输入课程编号：</a:t>
            </a:r>
            <a:r>
              <a:rPr lang="en-US" altLang="zh-CN" sz="800" dirty="0" smtClean="0"/>
              <a:t>";</a:t>
            </a:r>
            <a:endParaRPr lang="en-US" altLang="zh-CN" sz="800" dirty="0"/>
          </a:p>
          <a:p>
            <a:r>
              <a:rPr lang="en-US" altLang="zh-CN" sz="800" dirty="0"/>
              <a:t>    int courseChoice;</a:t>
            </a:r>
          </a:p>
          <a:p>
            <a:r>
              <a:rPr lang="en-US" altLang="zh-CN" sz="800" dirty="0"/>
              <a:t>    std::cin &gt;&gt; courseChoice</a:t>
            </a:r>
            <a:r>
              <a:rPr lang="en-US" altLang="zh-CN" sz="800" dirty="0" smtClean="0"/>
              <a:t>;</a:t>
            </a:r>
            <a:endParaRPr lang="en-US" altLang="zh-CN" sz="800" dirty="0"/>
          </a:p>
          <a:p>
            <a:r>
              <a:rPr lang="en-US" altLang="zh-CN" sz="800" dirty="0"/>
              <a:t>    if (courseChoice &lt; 1 || courseChoice &gt; static_cast&lt;int&gt;(courses.size())) {</a:t>
            </a:r>
          </a:p>
          <a:p>
            <a:r>
              <a:rPr lang="en-US" altLang="zh-CN" sz="800" dirty="0"/>
              <a:t>        std::cout &lt;&lt; "</a:t>
            </a:r>
            <a:r>
              <a:rPr lang="zh-CN" altLang="en-US" sz="800" dirty="0"/>
              <a:t>无效的课程编号！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return;</a:t>
            </a:r>
          </a:p>
          <a:p>
            <a:r>
              <a:rPr lang="en-US" altLang="zh-CN" sz="800" dirty="0"/>
              <a:t>    }</a:t>
            </a:r>
            <a:endParaRPr lang="zh-CN" altLang="en-US" sz="800" dirty="0"/>
          </a:p>
        </p:txBody>
      </p:sp>
      <p:sp>
        <p:nvSpPr>
          <p:cNvPr id="7" name="矩形 6"/>
          <p:cNvSpPr/>
          <p:nvPr/>
        </p:nvSpPr>
        <p:spPr>
          <a:xfrm>
            <a:off x="3832760" y="1244428"/>
            <a:ext cx="6096000" cy="53860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800" dirty="0"/>
              <a:t> const std::string&amp; courseId = courses[courseChoice - 1].id;</a:t>
            </a:r>
          </a:p>
          <a:p>
            <a:r>
              <a:rPr lang="en-US" altLang="zh-CN" sz="800" dirty="0"/>
              <a:t>    auto students = controller-&gt;getCourseStudents(courseId</a:t>
            </a:r>
            <a:r>
              <a:rPr lang="en-US" altLang="zh-CN" sz="800" dirty="0" smtClean="0"/>
              <a:t>);</a:t>
            </a:r>
            <a:endParaRPr lang="en-US" altLang="zh-CN" sz="800" dirty="0"/>
          </a:p>
          <a:p>
            <a:r>
              <a:rPr lang="en-US" altLang="zh-CN" sz="800" dirty="0"/>
              <a:t>    std::cout &lt;&lt; "\n</a:t>
            </a:r>
            <a:r>
              <a:rPr lang="zh-CN" altLang="en-US" sz="800" dirty="0"/>
              <a:t>课程 </a:t>
            </a:r>
            <a:r>
              <a:rPr lang="en-US" altLang="zh-CN" sz="800" dirty="0"/>
              <a:t>" &lt;&lt; courseId &lt;&lt; " </a:t>
            </a:r>
            <a:r>
              <a:rPr lang="zh-CN" altLang="en-US" sz="800" dirty="0"/>
              <a:t>的选课学生列表：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if (students.empty()) {</a:t>
            </a:r>
          </a:p>
          <a:p>
            <a:r>
              <a:rPr lang="en-US" altLang="zh-CN" sz="800" dirty="0"/>
              <a:t>        std::cout &lt;&lt; "</a:t>
            </a:r>
            <a:r>
              <a:rPr lang="zh-CN" altLang="en-US" sz="800" dirty="0"/>
              <a:t>该课程暂无学生选课。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} else {</a:t>
            </a:r>
          </a:p>
          <a:p>
            <a:r>
              <a:rPr lang="en-US" altLang="zh-CN" sz="800" dirty="0"/>
              <a:t>        for (const auto&amp; student : students) {</a:t>
            </a:r>
          </a:p>
          <a:p>
            <a:r>
              <a:rPr lang="en-US" altLang="zh-CN" sz="800" dirty="0"/>
              <a:t>            double grade = student.getGrade(courseId);</a:t>
            </a:r>
          </a:p>
          <a:p>
            <a:r>
              <a:rPr lang="en-US" altLang="zh-CN" sz="800" dirty="0"/>
              <a:t>            std::cout &lt;&lt; "</a:t>
            </a:r>
            <a:r>
              <a:rPr lang="zh-CN" altLang="en-US" sz="800" dirty="0"/>
              <a:t>学号</a:t>
            </a:r>
            <a:r>
              <a:rPr lang="en-US" altLang="zh-CN" sz="800" dirty="0"/>
              <a:t>: " &lt;&lt; student.id &lt;&lt; " | </a:t>
            </a:r>
            <a:r>
              <a:rPr lang="zh-CN" altLang="en-US" sz="800" dirty="0"/>
              <a:t>姓名</a:t>
            </a:r>
            <a:r>
              <a:rPr lang="en-US" altLang="zh-CN" sz="800" dirty="0"/>
              <a:t>: " &lt;&lt; student.name &lt;&lt; " | </a:t>
            </a:r>
            <a:r>
              <a:rPr lang="zh-CN" altLang="en-US" sz="800" dirty="0"/>
              <a:t>成绩</a:t>
            </a:r>
            <a:r>
              <a:rPr lang="en-US" altLang="zh-CN" sz="800" dirty="0"/>
              <a:t>: " &lt;&lt; grade;</a:t>
            </a:r>
          </a:p>
          <a:p>
            <a:r>
              <a:rPr lang="en-US" altLang="zh-CN" sz="800" dirty="0"/>
              <a:t>            if (!student.hasGrade(courseId)) {</a:t>
            </a:r>
          </a:p>
          <a:p>
            <a:r>
              <a:rPr lang="en-US" altLang="zh-CN" sz="800" dirty="0"/>
              <a:t>                std::cout &lt;&lt; " (</a:t>
            </a:r>
            <a:r>
              <a:rPr lang="zh-CN" altLang="en-US" sz="800" dirty="0"/>
              <a:t>未录入</a:t>
            </a:r>
            <a:r>
              <a:rPr lang="en-US" altLang="zh-CN" sz="800" dirty="0"/>
              <a:t>)";</a:t>
            </a:r>
          </a:p>
          <a:p>
            <a:r>
              <a:rPr lang="en-US" altLang="zh-CN" sz="800" dirty="0"/>
              <a:t>            }</a:t>
            </a:r>
          </a:p>
          <a:p>
            <a:r>
              <a:rPr lang="en-US" altLang="zh-CN" sz="800" dirty="0"/>
              <a:t>            std::cout &lt;&lt; std::endl;</a:t>
            </a:r>
          </a:p>
          <a:p>
            <a:r>
              <a:rPr lang="en-US" altLang="zh-CN" sz="800" dirty="0"/>
              <a:t>        }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void ConsoleView::handleGradeInput() {</a:t>
            </a:r>
          </a:p>
          <a:p>
            <a:r>
              <a:rPr lang="en-US" altLang="zh-CN" sz="800" dirty="0"/>
              <a:t>    auto courses = controller-&gt;getTeachingCourses(currentTeacherId);</a:t>
            </a:r>
          </a:p>
          <a:p>
            <a:r>
              <a:rPr lang="en-US" altLang="zh-CN" sz="800" dirty="0"/>
              <a:t>    if (courses.empty()) {</a:t>
            </a:r>
          </a:p>
          <a:p>
            <a:r>
              <a:rPr lang="en-US" altLang="zh-CN" sz="800" dirty="0"/>
              <a:t>        std::cout &lt;&lt; "</a:t>
            </a:r>
            <a:r>
              <a:rPr lang="zh-CN" altLang="en-US" sz="800" dirty="0"/>
              <a:t>您当前没有授课课程！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return;</a:t>
            </a:r>
          </a:p>
          <a:p>
            <a:r>
              <a:rPr lang="en-US" altLang="zh-CN" sz="800" dirty="0"/>
              <a:t>    </a:t>
            </a:r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    std::cout &lt;&lt; "\n</a:t>
            </a:r>
            <a:r>
              <a:rPr lang="zh-CN" altLang="en-US" sz="800" dirty="0"/>
              <a:t>请选择要录入成绩的课程：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for (size_t i = 0; i &lt; courses.size(); ++i) {</a:t>
            </a:r>
          </a:p>
          <a:p>
            <a:r>
              <a:rPr lang="en-US" altLang="zh-CN" sz="800" dirty="0"/>
              <a:t>        std::cout &lt;&lt; i + 1 &lt;&lt; ". " &lt;&lt; courses[i].toString() &lt;&lt; std::endl;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/>
              <a:t>    std::cout &lt;&lt; "</a:t>
            </a:r>
            <a:r>
              <a:rPr lang="zh-CN" altLang="en-US" sz="800" dirty="0"/>
              <a:t>请输入课程编号：</a:t>
            </a:r>
            <a:r>
              <a:rPr lang="en-US" altLang="zh-CN" sz="800" dirty="0"/>
              <a:t>";</a:t>
            </a:r>
          </a:p>
          <a:p>
            <a:endParaRPr lang="en-US" altLang="zh-CN" sz="800" dirty="0"/>
          </a:p>
          <a:p>
            <a:r>
              <a:rPr lang="en-US" altLang="zh-CN" sz="800" dirty="0"/>
              <a:t>    int courseChoice;</a:t>
            </a:r>
          </a:p>
          <a:p>
            <a:r>
              <a:rPr lang="en-US" altLang="zh-CN" sz="800" dirty="0"/>
              <a:t>    std::cin &gt;&gt; courseChoice</a:t>
            </a:r>
            <a:r>
              <a:rPr lang="en-US" altLang="zh-CN" sz="800" dirty="0" smtClean="0"/>
              <a:t>;</a:t>
            </a:r>
            <a:endParaRPr lang="en-US" altLang="zh-CN" sz="800" dirty="0"/>
          </a:p>
          <a:p>
            <a:r>
              <a:rPr lang="en-US" altLang="zh-CN" sz="800" dirty="0"/>
              <a:t>    if (courseChoice &lt; 1 || courseChoice &gt; static_cast&lt;int&gt;(courses.size())) {</a:t>
            </a:r>
          </a:p>
          <a:p>
            <a:r>
              <a:rPr lang="en-US" altLang="zh-CN" sz="800" dirty="0"/>
              <a:t>        std::cout &lt;&lt; "</a:t>
            </a:r>
            <a:r>
              <a:rPr lang="zh-CN" altLang="en-US" sz="800" dirty="0"/>
              <a:t>无效的课程编号！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return;</a:t>
            </a:r>
          </a:p>
          <a:p>
            <a:r>
              <a:rPr lang="en-US" altLang="zh-CN" sz="800" dirty="0"/>
              <a:t>    </a:t>
            </a:r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    const std::string&amp; courseId = courses[courseChoice - 1].id;</a:t>
            </a:r>
          </a:p>
          <a:p>
            <a:r>
              <a:rPr lang="en-US" altLang="zh-CN" sz="800" dirty="0"/>
              <a:t>    auto students = controller-&gt;getCourseStudents(courseId</a:t>
            </a:r>
            <a:r>
              <a:rPr lang="en-US" altLang="zh-CN" sz="800" dirty="0" smtClean="0"/>
              <a:t>);</a:t>
            </a:r>
            <a:endParaRPr lang="en-US" altLang="zh-CN" sz="800" dirty="0"/>
          </a:p>
          <a:p>
            <a:r>
              <a:rPr lang="en-US" altLang="zh-CN" sz="800" dirty="0"/>
              <a:t>    if (students.empty()) {</a:t>
            </a:r>
          </a:p>
          <a:p>
            <a:r>
              <a:rPr lang="en-US" altLang="zh-CN" sz="800" dirty="0"/>
              <a:t>        std::cout &lt;&lt; "</a:t>
            </a:r>
            <a:r>
              <a:rPr lang="zh-CN" altLang="en-US" sz="800" dirty="0"/>
              <a:t>该课程暂无学生选课，无法录入成绩。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return;</a:t>
            </a:r>
          </a:p>
          <a:p>
            <a:r>
              <a:rPr lang="en-US" altLang="zh-CN" sz="800" dirty="0"/>
              <a:t>    </a:t>
            </a:r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    std::cout &lt;&lt; "\n</a:t>
            </a:r>
            <a:r>
              <a:rPr lang="zh-CN" altLang="en-US" sz="800" dirty="0"/>
              <a:t>为课程 </a:t>
            </a:r>
            <a:r>
              <a:rPr lang="en-US" altLang="zh-CN" sz="800" dirty="0"/>
              <a:t>" &lt;&lt; courseId &lt;&lt; " </a:t>
            </a:r>
            <a:r>
              <a:rPr lang="zh-CN" altLang="en-US" sz="800" dirty="0"/>
              <a:t>录入成绩：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</a:t>
            </a:r>
          </a:p>
          <a:p>
            <a:r>
              <a:rPr lang="en-US" altLang="zh-CN" sz="800" dirty="0"/>
              <a:t>}</a:t>
            </a:r>
            <a:endParaRPr lang="zh-CN" altLang="en-US" sz="800" dirty="0"/>
          </a:p>
        </p:txBody>
      </p:sp>
      <p:sp>
        <p:nvSpPr>
          <p:cNvPr id="9" name="矩形 8"/>
          <p:cNvSpPr/>
          <p:nvPr/>
        </p:nvSpPr>
        <p:spPr>
          <a:xfrm>
            <a:off x="7242659" y="2510005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800" dirty="0"/>
              <a:t>for (const auto&amp; student : students) {</a:t>
            </a:r>
          </a:p>
          <a:p>
            <a:r>
              <a:rPr lang="en-US" altLang="zh-CN" sz="800" dirty="0"/>
              <a:t>        double currentGrade = student.getGrade(courseId);</a:t>
            </a:r>
          </a:p>
          <a:p>
            <a:r>
              <a:rPr lang="en-US" altLang="zh-CN" sz="800" dirty="0"/>
              <a:t>        std::cout &lt;&lt; "</a:t>
            </a:r>
            <a:r>
              <a:rPr lang="zh-CN" altLang="en-US" sz="800" dirty="0"/>
              <a:t>学生</a:t>
            </a:r>
            <a:r>
              <a:rPr lang="en-US" altLang="zh-CN" sz="800" dirty="0"/>
              <a:t>: " &lt;&lt; student.name &lt;&lt; "</a:t>
            </a:r>
            <a:r>
              <a:rPr lang="zh-CN" altLang="en-US" sz="800" dirty="0"/>
              <a:t>（学号</a:t>
            </a:r>
            <a:r>
              <a:rPr lang="en-US" altLang="zh-CN" sz="800" dirty="0"/>
              <a:t>: " &lt;&lt; student.id &lt;&lt; "</a:t>
            </a:r>
            <a:r>
              <a:rPr lang="zh-CN" altLang="en-US" sz="800" dirty="0"/>
              <a:t>）</a:t>
            </a:r>
            <a:r>
              <a:rPr lang="en-US" altLang="zh-CN" sz="800" dirty="0"/>
              <a:t>";</a:t>
            </a:r>
          </a:p>
          <a:p>
            <a:r>
              <a:rPr lang="en-US" altLang="zh-CN" sz="800" dirty="0"/>
              <a:t>        if (student.hasGrade(courseId)) {</a:t>
            </a:r>
          </a:p>
          <a:p>
            <a:r>
              <a:rPr lang="en-US" altLang="zh-CN" sz="800" dirty="0"/>
              <a:t>            std::cout &lt;&lt; " [</a:t>
            </a:r>
            <a:r>
              <a:rPr lang="zh-CN" altLang="en-US" sz="800" dirty="0"/>
              <a:t>当前成绩</a:t>
            </a:r>
            <a:r>
              <a:rPr lang="en-US" altLang="zh-CN" sz="800" dirty="0"/>
              <a:t>: " &lt;&lt; currentGrade &lt;&lt; "]";</a:t>
            </a:r>
          </a:p>
          <a:p>
            <a:r>
              <a:rPr lang="en-US" altLang="zh-CN" sz="800" dirty="0"/>
              <a:t>        }</a:t>
            </a:r>
          </a:p>
          <a:p>
            <a:r>
              <a:rPr lang="en-US" altLang="zh-CN" sz="800" dirty="0"/>
              <a:t>        std::cout &lt;&lt; " </a:t>
            </a:r>
            <a:r>
              <a:rPr lang="zh-CN" altLang="en-US" sz="800" dirty="0"/>
              <a:t>请输入新成绩：</a:t>
            </a:r>
            <a:r>
              <a:rPr lang="en-US" altLang="zh-CN" sz="800" dirty="0"/>
              <a:t>";</a:t>
            </a:r>
          </a:p>
          <a:p>
            <a:r>
              <a:rPr lang="en-US" altLang="zh-CN" sz="800" dirty="0"/>
              <a:t>        double newGrade;</a:t>
            </a:r>
          </a:p>
          <a:p>
            <a:r>
              <a:rPr lang="en-US" altLang="zh-CN" sz="800" dirty="0"/>
              <a:t>        std::cin &gt;&gt; newGrade;</a:t>
            </a:r>
          </a:p>
          <a:p>
            <a:r>
              <a:rPr lang="en-US" altLang="zh-CN" sz="800" dirty="0"/>
              <a:t>        if (controller-&gt;updateStudentGrade(student.id, courseId, newGrade)) {</a:t>
            </a:r>
          </a:p>
          <a:p>
            <a:r>
              <a:rPr lang="en-US" altLang="zh-CN" sz="800" dirty="0"/>
              <a:t>            std::cout &lt;&lt; "</a:t>
            </a:r>
            <a:r>
              <a:rPr lang="zh-CN" altLang="en-US" sz="800" dirty="0"/>
              <a:t>成绩录入成功！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} else {</a:t>
            </a:r>
          </a:p>
          <a:p>
            <a:r>
              <a:rPr lang="en-US" altLang="zh-CN" sz="800" dirty="0"/>
              <a:t>            std::cout &lt;&lt; "</a:t>
            </a:r>
            <a:r>
              <a:rPr lang="zh-CN" altLang="en-US" sz="800" dirty="0"/>
              <a:t>成绩录入失败！</a:t>
            </a:r>
            <a:r>
              <a:rPr lang="en-US" altLang="zh-CN" sz="800" dirty="0"/>
              <a:t>\n";</a:t>
            </a:r>
          </a:p>
          <a:p>
            <a:r>
              <a:rPr lang="en-US" altLang="zh-CN" sz="800" dirty="0"/>
              <a:t>        }</a:t>
            </a:r>
          </a:p>
          <a:p>
            <a:r>
              <a:rPr lang="en-US" altLang="zh-CN" sz="800" dirty="0"/>
              <a:t>    }</a:t>
            </a:r>
            <a:endParaRPr lang="zh-CN" altLang="en-US" sz="800" dirty="0"/>
          </a:p>
        </p:txBody>
      </p:sp>
      <p:sp>
        <p:nvSpPr>
          <p:cNvPr id="10" name="矩形 9"/>
          <p:cNvSpPr/>
          <p:nvPr/>
        </p:nvSpPr>
        <p:spPr>
          <a:xfrm>
            <a:off x="7086600" y="4968969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800" dirty="0"/>
              <a:t>1. </a:t>
            </a:r>
            <a:r>
              <a:rPr lang="zh-CN" altLang="en-US" sz="800" dirty="0"/>
              <a:t>教师信息查询功能：新增了通过教师</a:t>
            </a:r>
            <a:r>
              <a:rPr lang="en-US" altLang="zh-CN" sz="800" dirty="0"/>
              <a:t>ID</a:t>
            </a:r>
            <a:r>
              <a:rPr lang="zh-CN" altLang="en-US" sz="800" dirty="0"/>
              <a:t>查询教师详细信息。</a:t>
            </a:r>
          </a:p>
          <a:p>
            <a:r>
              <a:rPr lang="en-US" altLang="zh-CN" sz="800" dirty="0"/>
              <a:t>2. </a:t>
            </a:r>
            <a:r>
              <a:rPr lang="zh-CN" altLang="en-US" sz="800" dirty="0"/>
              <a:t>教师授课课程管理：新增了 支持获取指定教师所授课程列表。</a:t>
            </a:r>
          </a:p>
          <a:p>
            <a:r>
              <a:rPr lang="en-US" altLang="zh-CN" sz="800" dirty="0"/>
              <a:t>3. </a:t>
            </a:r>
            <a:r>
              <a:rPr lang="zh-CN" altLang="en-US" sz="800" dirty="0"/>
              <a:t>课程学生列表查询：新增了方法，可查看某课程的选课学生列表。</a:t>
            </a:r>
          </a:p>
          <a:p>
            <a:r>
              <a:rPr lang="en-US" altLang="zh-CN" sz="800" dirty="0"/>
              <a:t>4. </a:t>
            </a:r>
            <a:r>
              <a:rPr lang="zh-CN" altLang="en-US" sz="800" dirty="0"/>
              <a:t>学生成绩更新功能：新增了方法，允许教师录入或修改学生在特定课程的成绩。</a:t>
            </a:r>
          </a:p>
        </p:txBody>
      </p:sp>
    </p:spTree>
    <p:extLst>
      <p:ext uri="{BB962C8B-B14F-4D97-AF65-F5344CB8AC3E}">
        <p14:creationId xmlns:p14="http://schemas.microsoft.com/office/powerpoint/2010/main" val="1764143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9634" y="-419634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组员分工汇报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46421" y="896587"/>
            <a:ext cx="287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81B1CE"/>
                </a:solidFill>
              </a:rPr>
              <a:t>——</a:t>
            </a:r>
            <a:r>
              <a:rPr lang="zh-CN" altLang="en-US" sz="2000" b="1" dirty="0">
                <a:solidFill>
                  <a:srgbClr val="81B1CE"/>
                </a:solidFill>
              </a:rPr>
              <a:t>龚清涛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12" y="99011"/>
            <a:ext cx="418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domain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64030" y="397191"/>
            <a:ext cx="6096000" cy="64940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800" dirty="0"/>
              <a:t>export class Course {</a:t>
            </a:r>
          </a:p>
          <a:p>
            <a:r>
              <a:rPr lang="en-US" altLang="zh-CN" sz="800" dirty="0"/>
              <a:t>public:</a:t>
            </a:r>
          </a:p>
          <a:p>
            <a:r>
              <a:rPr lang="en-US" altLang="zh-CN" sz="800" dirty="0"/>
              <a:t>    std::string id;</a:t>
            </a:r>
          </a:p>
          <a:p>
            <a:r>
              <a:rPr lang="en-US" altLang="zh-CN" sz="800" dirty="0"/>
              <a:t>    std::string name;</a:t>
            </a:r>
          </a:p>
          <a:p>
            <a:r>
              <a:rPr lang="en-US" altLang="zh-CN" sz="800" dirty="0"/>
              <a:t>    int credit;</a:t>
            </a:r>
          </a:p>
          <a:p>
            <a:r>
              <a:rPr lang="en-US" altLang="zh-CN" sz="800" dirty="0"/>
              <a:t>    int maxCapacity;</a:t>
            </a:r>
          </a:p>
          <a:p>
            <a:r>
              <a:rPr lang="en-US" altLang="zh-CN" sz="800" dirty="0"/>
              <a:t>    int currentEnrollment;</a:t>
            </a:r>
          </a:p>
          <a:p>
            <a:r>
              <a:rPr lang="en-US" altLang="zh-CN" sz="800" dirty="0"/>
              <a:t>    std::string teacherId</a:t>
            </a:r>
            <a:r>
              <a:rPr lang="en-US" altLang="zh-CN" sz="800" dirty="0" smtClean="0"/>
              <a:t>;</a:t>
            </a:r>
            <a:endParaRPr lang="en-US" altLang="zh-CN" sz="800" dirty="0"/>
          </a:p>
          <a:p>
            <a:r>
              <a:rPr lang="en-US" altLang="zh-CN" sz="800" dirty="0"/>
              <a:t>    // </a:t>
            </a:r>
            <a:r>
              <a:rPr lang="zh-CN" altLang="en-US" sz="800" dirty="0"/>
              <a:t>构造函数声明</a:t>
            </a:r>
          </a:p>
          <a:p>
            <a:r>
              <a:rPr lang="zh-CN" altLang="en-US" sz="800" dirty="0"/>
              <a:t>    </a:t>
            </a:r>
            <a:r>
              <a:rPr lang="en-US" altLang="zh-CN" sz="800" dirty="0"/>
              <a:t>Course(std::string _id, std::string _name, int _credit, int _max, std::string _teacherId = </a:t>
            </a:r>
            <a:r>
              <a:rPr lang="en-US" altLang="zh-CN" sz="800" dirty="0" smtClean="0"/>
              <a:t>"");</a:t>
            </a:r>
            <a:endParaRPr lang="en-US" altLang="zh-CN" sz="800" dirty="0"/>
          </a:p>
          <a:p>
            <a:r>
              <a:rPr lang="en-US" altLang="zh-CN" sz="800" dirty="0"/>
              <a:t>    std::string toString() const;</a:t>
            </a:r>
          </a:p>
          <a:p>
            <a:r>
              <a:rPr lang="en-US" altLang="zh-CN" sz="800" dirty="0"/>
              <a:t>    bool isFull() const;</a:t>
            </a:r>
          </a:p>
          <a:p>
            <a:r>
              <a:rPr lang="en-US" altLang="zh-CN" sz="800" dirty="0"/>
              <a:t>    bool enrollStudent();</a:t>
            </a:r>
          </a:p>
          <a:p>
            <a:r>
              <a:rPr lang="en-US" altLang="zh-CN" sz="800" dirty="0"/>
              <a:t>    void dropStudent();</a:t>
            </a:r>
          </a:p>
          <a:p>
            <a:r>
              <a:rPr lang="en-US" altLang="zh-CN" sz="800" dirty="0"/>
              <a:t>    std::string getTeacherId() const { return teacherId; }</a:t>
            </a:r>
          </a:p>
          <a:p>
            <a:r>
              <a:rPr lang="en-US" altLang="zh-CN" sz="800" dirty="0" smtClean="0"/>
              <a:t>};</a:t>
            </a:r>
            <a:endParaRPr lang="en-US" altLang="zh-CN" sz="800" dirty="0"/>
          </a:p>
          <a:p>
            <a:r>
              <a:rPr lang="en-US" altLang="zh-CN" sz="800" dirty="0"/>
              <a:t>// </a:t>
            </a:r>
            <a:r>
              <a:rPr lang="zh-CN" altLang="en-US" sz="800" dirty="0"/>
              <a:t>实现</a:t>
            </a:r>
          </a:p>
          <a:p>
            <a:r>
              <a:rPr lang="en-US" altLang="zh-CN" sz="800" dirty="0"/>
              <a:t>Course::Course(std::string _id, std::string _name, int _credit, int _max, std::string _teacherId)</a:t>
            </a:r>
          </a:p>
          <a:p>
            <a:r>
              <a:rPr lang="en-US" altLang="zh-CN" sz="800" dirty="0"/>
              <a:t>    : id(_id), name(_name), credit(_credit), maxCapacity(_max), currentEnrollment(0), teacherId(_teacherId) </a:t>
            </a:r>
            <a:r>
              <a:rPr lang="en-US" altLang="zh-CN" sz="800" dirty="0" smtClean="0"/>
              <a:t>{}</a:t>
            </a:r>
            <a:endParaRPr lang="en-US" altLang="zh-CN" sz="800" dirty="0"/>
          </a:p>
          <a:p>
            <a:r>
              <a:rPr lang="en-US" altLang="zh-CN" sz="800" dirty="0"/>
              <a:t>std::string Course::toString() const {</a:t>
            </a:r>
          </a:p>
          <a:p>
            <a:r>
              <a:rPr lang="en-US" altLang="zh-CN" sz="800" dirty="0"/>
              <a:t>    return "</a:t>
            </a:r>
            <a:r>
              <a:rPr lang="zh-CN" altLang="en-US" sz="800" dirty="0"/>
              <a:t>课程</a:t>
            </a:r>
            <a:r>
              <a:rPr lang="en-US" altLang="zh-CN" sz="800" dirty="0"/>
              <a:t>ID: " + id + " | </a:t>
            </a:r>
            <a:r>
              <a:rPr lang="zh-CN" altLang="en-US" sz="800" dirty="0"/>
              <a:t>名称</a:t>
            </a:r>
            <a:r>
              <a:rPr lang="en-US" altLang="zh-CN" sz="800" dirty="0"/>
              <a:t>: " + name +</a:t>
            </a:r>
          </a:p>
          <a:p>
            <a:r>
              <a:rPr lang="en-US" altLang="zh-CN" sz="800" dirty="0"/>
              <a:t>           " | </a:t>
            </a:r>
            <a:r>
              <a:rPr lang="zh-CN" altLang="en-US" sz="800" dirty="0"/>
              <a:t>学分</a:t>
            </a:r>
            <a:r>
              <a:rPr lang="en-US" altLang="zh-CN" sz="800" dirty="0"/>
              <a:t>: " + std::to_string(credit) +</a:t>
            </a:r>
          </a:p>
          <a:p>
            <a:r>
              <a:rPr lang="en-US" altLang="zh-CN" sz="800" dirty="0"/>
              <a:t>           " | </a:t>
            </a:r>
            <a:r>
              <a:rPr lang="zh-CN" altLang="en-US" sz="800" dirty="0"/>
              <a:t>容量</a:t>
            </a:r>
            <a:r>
              <a:rPr lang="en-US" altLang="zh-CN" sz="800" dirty="0"/>
              <a:t>: " + std::to_string(currentEnrollment) + "/" +</a:t>
            </a:r>
          </a:p>
          <a:p>
            <a:r>
              <a:rPr lang="en-US" altLang="zh-CN" sz="800" dirty="0"/>
              <a:t>           std::to_string(maxCapacity) +</a:t>
            </a:r>
          </a:p>
          <a:p>
            <a:r>
              <a:rPr lang="en-US" altLang="zh-CN" sz="800" dirty="0"/>
              <a:t>           " | </a:t>
            </a:r>
            <a:r>
              <a:rPr lang="zh-CN" altLang="en-US" sz="800" dirty="0"/>
              <a:t>教师</a:t>
            </a:r>
            <a:r>
              <a:rPr lang="en-US" altLang="zh-CN" sz="800" dirty="0"/>
              <a:t>: " + teacherId</a:t>
            </a:r>
            <a:r>
              <a:rPr lang="en-US" altLang="zh-CN" sz="800" dirty="0" smtClean="0"/>
              <a:t>;</a:t>
            </a:r>
            <a:endParaRPr lang="en-US" altLang="zh-CN" sz="800" dirty="0"/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bool Course::isFull() const {</a:t>
            </a:r>
          </a:p>
          <a:p>
            <a:r>
              <a:rPr lang="en-US" altLang="zh-CN" sz="800" dirty="0"/>
              <a:t>    return currentEnrollment &gt;= maxCapacity;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bool Course::enrollStudent() {</a:t>
            </a:r>
          </a:p>
          <a:p>
            <a:r>
              <a:rPr lang="en-US" altLang="zh-CN" sz="800" dirty="0"/>
              <a:t>    if (isFull()) return false;</a:t>
            </a:r>
          </a:p>
          <a:p>
            <a:r>
              <a:rPr lang="en-US" altLang="zh-CN" sz="800" dirty="0"/>
              <a:t>    currentEnrollment++;</a:t>
            </a:r>
          </a:p>
          <a:p>
            <a:r>
              <a:rPr lang="en-US" altLang="zh-CN" sz="800" dirty="0"/>
              <a:t>    return true;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void Course::dropStudent() {</a:t>
            </a:r>
          </a:p>
          <a:p>
            <a:r>
              <a:rPr lang="en-US" altLang="zh-CN" sz="800" dirty="0"/>
              <a:t>    if (currentEnrollment &gt; 0) currentEnrollment--;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export class Student {</a:t>
            </a:r>
          </a:p>
          <a:p>
            <a:r>
              <a:rPr lang="en-US" altLang="zh-CN" sz="800" dirty="0"/>
              <a:t>public:</a:t>
            </a:r>
          </a:p>
          <a:p>
            <a:r>
              <a:rPr lang="en-US" altLang="zh-CN" sz="800" dirty="0"/>
              <a:t>    std::string id;</a:t>
            </a:r>
          </a:p>
          <a:p>
            <a:r>
              <a:rPr lang="en-US" altLang="zh-CN" sz="800" dirty="0"/>
              <a:t>    std::string name;</a:t>
            </a:r>
          </a:p>
          <a:p>
            <a:r>
              <a:rPr lang="en-US" altLang="zh-CN" sz="800" dirty="0"/>
              <a:t>    std::vector&lt;std::string&gt; enrolledCourseIds;</a:t>
            </a:r>
          </a:p>
          <a:p>
            <a:r>
              <a:rPr lang="en-US" altLang="zh-CN" sz="800" dirty="0"/>
              <a:t>    std::unordered_map&lt;std::string, double&gt; courseGrades; // </a:t>
            </a:r>
            <a:r>
              <a:rPr lang="zh-CN" altLang="en-US" sz="800" dirty="0"/>
              <a:t>课程成绩映</a:t>
            </a:r>
            <a:r>
              <a:rPr lang="zh-CN" altLang="en-US" sz="800" dirty="0" smtClean="0"/>
              <a:t>射</a:t>
            </a:r>
            <a:endParaRPr lang="zh-CN" altLang="en-US" sz="800" dirty="0"/>
          </a:p>
          <a:p>
            <a:r>
              <a:rPr lang="zh-CN" altLang="en-US" sz="800" dirty="0"/>
              <a:t>    </a:t>
            </a:r>
            <a:r>
              <a:rPr lang="en-US" altLang="zh-CN" sz="800" dirty="0"/>
              <a:t>// </a:t>
            </a:r>
            <a:r>
              <a:rPr lang="zh-CN" altLang="en-US" sz="800" dirty="0"/>
              <a:t>构造函数声明</a:t>
            </a:r>
          </a:p>
          <a:p>
            <a:r>
              <a:rPr lang="zh-CN" altLang="en-US" sz="800" dirty="0"/>
              <a:t>    </a:t>
            </a:r>
            <a:r>
              <a:rPr lang="en-US" altLang="zh-CN" sz="800" dirty="0"/>
              <a:t>Student(std::string _id, std::string _name);</a:t>
            </a:r>
          </a:p>
          <a:p>
            <a:r>
              <a:rPr lang="en-US" altLang="zh-CN" sz="800" dirty="0"/>
              <a:t>    bool isEnrolled(const std::string&amp; courseId) const;</a:t>
            </a:r>
          </a:p>
          <a:p>
            <a:r>
              <a:rPr lang="en-US" altLang="zh-CN" sz="800" dirty="0"/>
              <a:t>    void addCourse(const std::string&amp; courseId);</a:t>
            </a:r>
          </a:p>
          <a:p>
            <a:r>
              <a:rPr lang="en-US" altLang="zh-CN" sz="800" dirty="0"/>
              <a:t>    void removeCourse(const std::string&amp; courseId);</a:t>
            </a:r>
          </a:p>
          <a:p>
            <a:r>
              <a:rPr lang="en-US" altLang="zh-CN" sz="800" dirty="0"/>
              <a:t>    void setGrade(const std::string&amp; courseId, double grade);</a:t>
            </a:r>
          </a:p>
          <a:p>
            <a:r>
              <a:rPr lang="en-US" altLang="zh-CN" sz="800" dirty="0"/>
              <a:t>    double getGrade(const std::string&amp; courseId) const;</a:t>
            </a:r>
          </a:p>
          <a:p>
            <a:r>
              <a:rPr lang="en-US" altLang="zh-CN" sz="800" dirty="0"/>
              <a:t>    bool hasGrade(const std::string&amp; courseId) const;</a:t>
            </a:r>
          </a:p>
          <a:p>
            <a:r>
              <a:rPr lang="en-US" altLang="zh-CN" sz="800" dirty="0"/>
              <a:t>};</a:t>
            </a:r>
            <a:endParaRPr lang="zh-CN" altLang="en-US" sz="800" dirty="0"/>
          </a:p>
        </p:txBody>
      </p:sp>
      <p:sp>
        <p:nvSpPr>
          <p:cNvPr id="6" name="矩形 5"/>
          <p:cNvSpPr/>
          <p:nvPr/>
        </p:nvSpPr>
        <p:spPr>
          <a:xfrm>
            <a:off x="4748964" y="655408"/>
            <a:ext cx="6096000" cy="61247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800" dirty="0"/>
              <a:t>// </a:t>
            </a:r>
            <a:r>
              <a:rPr lang="zh-CN" altLang="en-US" sz="800" dirty="0"/>
              <a:t>实现</a:t>
            </a:r>
          </a:p>
          <a:p>
            <a:r>
              <a:rPr lang="en-US" altLang="zh-CN" sz="800" dirty="0"/>
              <a:t>Student::Student(std::string _id, std::string _name)</a:t>
            </a:r>
          </a:p>
          <a:p>
            <a:r>
              <a:rPr lang="en-US" altLang="zh-CN" sz="800" dirty="0"/>
              <a:t>    : id(_id), name(_name) </a:t>
            </a:r>
            <a:r>
              <a:rPr lang="en-US" altLang="zh-CN" sz="800" dirty="0" smtClean="0"/>
              <a:t>{}</a:t>
            </a:r>
            <a:endParaRPr lang="en-US" altLang="zh-CN" sz="800" dirty="0"/>
          </a:p>
          <a:p>
            <a:r>
              <a:rPr lang="en-US" altLang="zh-CN" sz="800" dirty="0"/>
              <a:t>bool Student::isEnrolled(const std::string&amp; courseId) const {</a:t>
            </a:r>
          </a:p>
          <a:p>
            <a:r>
              <a:rPr lang="en-US" altLang="zh-CN" sz="800" dirty="0"/>
              <a:t>    return std::find(enrolledCourseIds.begin(), enrolledCourseIds.end(), courseId)</a:t>
            </a:r>
          </a:p>
          <a:p>
            <a:r>
              <a:rPr lang="en-US" altLang="zh-CN" sz="800" dirty="0"/>
              <a:t>           != enrolledCourseIds.end();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void Student::addCourse(const std::string&amp; courseId) {</a:t>
            </a:r>
          </a:p>
          <a:p>
            <a:r>
              <a:rPr lang="en-US" altLang="zh-CN" sz="800" dirty="0"/>
              <a:t>    if (!isEnrolled(courseId)) {</a:t>
            </a:r>
          </a:p>
          <a:p>
            <a:r>
              <a:rPr lang="en-US" altLang="zh-CN" sz="800" dirty="0"/>
              <a:t>        enrolledCourseIds.push_back(courseId);</a:t>
            </a:r>
          </a:p>
          <a:p>
            <a:r>
              <a:rPr lang="en-US" altLang="zh-CN" sz="800" dirty="0"/>
              <a:t>        courseGrades[courseId] = 0.0; // </a:t>
            </a:r>
            <a:r>
              <a:rPr lang="zh-CN" altLang="en-US" sz="800" dirty="0"/>
              <a:t>初始化成绩为</a:t>
            </a:r>
            <a:r>
              <a:rPr lang="en-US" altLang="zh-CN" sz="800" dirty="0"/>
              <a:t>0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void Student::removeCourse(const std::string&amp; courseId) {</a:t>
            </a:r>
          </a:p>
          <a:p>
            <a:r>
              <a:rPr lang="en-US" altLang="zh-CN" sz="800" dirty="0"/>
              <a:t>    auto it = std::find(enrolledCourseIds.begin(), enrolledCourseIds.end(), courseId);</a:t>
            </a:r>
          </a:p>
          <a:p>
            <a:r>
              <a:rPr lang="en-US" altLang="zh-CN" sz="800" dirty="0"/>
              <a:t>    if (it != enrolledCourseIds.end()) {</a:t>
            </a:r>
          </a:p>
          <a:p>
            <a:r>
              <a:rPr lang="en-US" altLang="zh-CN" sz="800" dirty="0"/>
              <a:t>        enrolledCourseIds.erase(it);</a:t>
            </a:r>
          </a:p>
          <a:p>
            <a:r>
              <a:rPr lang="en-US" altLang="zh-CN" sz="800" dirty="0"/>
              <a:t>        courseGrades.erase(courseId);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void Student::setGrade(const std::string&amp; courseId, double grade) {</a:t>
            </a:r>
          </a:p>
          <a:p>
            <a:r>
              <a:rPr lang="en-US" altLang="zh-CN" sz="800" dirty="0"/>
              <a:t>    if (isEnrolled(courseId)) {</a:t>
            </a:r>
          </a:p>
          <a:p>
            <a:r>
              <a:rPr lang="en-US" altLang="zh-CN" sz="800" dirty="0"/>
              <a:t>        courseGrades[courseId] = grade;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double Student::getGrade(const std::string&amp; courseId) const {</a:t>
            </a:r>
          </a:p>
          <a:p>
            <a:r>
              <a:rPr lang="en-US" altLang="zh-CN" sz="800" dirty="0"/>
              <a:t>    auto it = courseGrades.find(courseId);</a:t>
            </a:r>
          </a:p>
          <a:p>
            <a:r>
              <a:rPr lang="en-US" altLang="zh-CN" sz="800" dirty="0"/>
              <a:t>    if (it != courseGrades.end()) {</a:t>
            </a:r>
          </a:p>
          <a:p>
            <a:r>
              <a:rPr lang="en-US" altLang="zh-CN" sz="800" dirty="0"/>
              <a:t>        return it-&gt;second;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/>
              <a:t>    return 0.0;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bool Student::hasGrade(const std::string&amp; courseId) const {</a:t>
            </a:r>
          </a:p>
          <a:p>
            <a:r>
              <a:rPr lang="en-US" altLang="zh-CN" sz="800" dirty="0"/>
              <a:t>    return courseGrades.find(courseId) != courseGrades.end();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 smtClean="0"/>
              <a:t>export </a:t>
            </a:r>
            <a:r>
              <a:rPr lang="en-US" altLang="zh-CN" sz="800" dirty="0"/>
              <a:t>class Teacher {</a:t>
            </a:r>
          </a:p>
          <a:p>
            <a:r>
              <a:rPr lang="en-US" altLang="zh-CN" sz="800" dirty="0"/>
              <a:t>public:</a:t>
            </a:r>
          </a:p>
          <a:p>
            <a:r>
              <a:rPr lang="en-US" altLang="zh-CN" sz="800" dirty="0"/>
              <a:t>    std::string id;</a:t>
            </a:r>
          </a:p>
          <a:p>
            <a:r>
              <a:rPr lang="en-US" altLang="zh-CN" sz="800" dirty="0"/>
              <a:t>    std::string name;</a:t>
            </a:r>
          </a:p>
          <a:p>
            <a:r>
              <a:rPr lang="en-US" altLang="zh-CN" sz="800" dirty="0"/>
              <a:t>    std::vector&lt;std::string&gt; teachingCourseIds</a:t>
            </a:r>
            <a:r>
              <a:rPr lang="en-US" altLang="zh-CN" sz="800" dirty="0" smtClean="0"/>
              <a:t>;</a:t>
            </a:r>
            <a:endParaRPr lang="en-US" altLang="zh-CN" sz="800" dirty="0"/>
          </a:p>
          <a:p>
            <a:r>
              <a:rPr lang="en-US" altLang="zh-CN" sz="800" dirty="0"/>
              <a:t>    // </a:t>
            </a:r>
            <a:r>
              <a:rPr lang="zh-CN" altLang="en-US" sz="800" dirty="0"/>
              <a:t>构造函数声明</a:t>
            </a:r>
          </a:p>
          <a:p>
            <a:r>
              <a:rPr lang="zh-CN" altLang="en-US" sz="800" dirty="0"/>
              <a:t>    </a:t>
            </a:r>
            <a:r>
              <a:rPr lang="en-US" altLang="zh-CN" sz="800" dirty="0"/>
              <a:t>Teacher(std::string _id, std::string _name</a:t>
            </a:r>
            <a:r>
              <a:rPr lang="en-US" altLang="zh-CN" sz="800" dirty="0" smtClean="0"/>
              <a:t>);</a:t>
            </a:r>
            <a:endParaRPr lang="en-US" altLang="zh-CN" sz="800" dirty="0"/>
          </a:p>
          <a:p>
            <a:r>
              <a:rPr lang="en-US" altLang="zh-CN" sz="800" dirty="0"/>
              <a:t>    // </a:t>
            </a:r>
            <a:r>
              <a:rPr lang="zh-CN" altLang="en-US" sz="800" dirty="0"/>
              <a:t>成员函数</a:t>
            </a:r>
          </a:p>
          <a:p>
            <a:r>
              <a:rPr lang="zh-CN" altLang="en-US" sz="800" dirty="0"/>
              <a:t>    </a:t>
            </a:r>
            <a:r>
              <a:rPr lang="en-US" altLang="zh-CN" sz="800" dirty="0"/>
              <a:t>void addTeachingCourse(const std::string&amp; courseId);</a:t>
            </a:r>
          </a:p>
          <a:p>
            <a:r>
              <a:rPr lang="en-US" altLang="zh-CN" sz="800" dirty="0"/>
              <a:t>    void removeTeachingCourse(const std::string&amp; courseId);</a:t>
            </a:r>
          </a:p>
          <a:p>
            <a:r>
              <a:rPr lang="en-US" altLang="zh-CN" sz="800" dirty="0"/>
              <a:t>    bool isTeaching(const std::string&amp; courseId) const;</a:t>
            </a:r>
          </a:p>
          <a:p>
            <a:r>
              <a:rPr lang="en-US" altLang="zh-CN" sz="800" dirty="0"/>
              <a:t>    std::vector&lt;std::string&gt; getTeachingCourses() const { return teachingCourseIds; }</a:t>
            </a:r>
          </a:p>
          <a:p>
            <a:r>
              <a:rPr lang="en-US" altLang="zh-CN" sz="800" dirty="0"/>
              <a:t>};</a:t>
            </a:r>
          </a:p>
        </p:txBody>
      </p:sp>
      <p:sp>
        <p:nvSpPr>
          <p:cNvPr id="7" name="矩形 6"/>
          <p:cNvSpPr/>
          <p:nvPr/>
        </p:nvSpPr>
        <p:spPr>
          <a:xfrm>
            <a:off x="8138354" y="82764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800" dirty="0"/>
              <a:t>// </a:t>
            </a:r>
            <a:r>
              <a:rPr lang="zh-CN" altLang="en-US" sz="800" dirty="0"/>
              <a:t>实现</a:t>
            </a:r>
          </a:p>
          <a:p>
            <a:r>
              <a:rPr lang="en-US" altLang="zh-CN" sz="800" dirty="0"/>
              <a:t>Teacher::Teacher(std::string _id, std::string _name)</a:t>
            </a:r>
          </a:p>
          <a:p>
            <a:r>
              <a:rPr lang="en-US" altLang="zh-CN" sz="800" dirty="0"/>
              <a:t>    : id(_id), name(_name) </a:t>
            </a:r>
            <a:r>
              <a:rPr lang="en-US" altLang="zh-CN" sz="800" dirty="0" smtClean="0"/>
              <a:t>{}</a:t>
            </a:r>
            <a:endParaRPr lang="en-US" altLang="zh-CN" sz="800" dirty="0"/>
          </a:p>
          <a:p>
            <a:r>
              <a:rPr lang="en-US" altLang="zh-CN" sz="800" dirty="0"/>
              <a:t>void Teacher::addTeachingCourse(const std::string&amp; courseId) {</a:t>
            </a:r>
          </a:p>
          <a:p>
            <a:r>
              <a:rPr lang="en-US" altLang="zh-CN" sz="800" dirty="0"/>
              <a:t>    if (!isTeaching(courseId)) {</a:t>
            </a:r>
          </a:p>
          <a:p>
            <a:r>
              <a:rPr lang="en-US" altLang="zh-CN" sz="800" dirty="0"/>
              <a:t>        teachingCourseIds.push_back(courseId);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void Teacher::removeTeachingCourse(const std::string&amp; courseId) {</a:t>
            </a:r>
          </a:p>
          <a:p>
            <a:r>
              <a:rPr lang="en-US" altLang="zh-CN" sz="800" dirty="0"/>
              <a:t>    auto it = std::find(teachingCourseIds.begin(), teachingCourseIds.end(), courseId);</a:t>
            </a:r>
          </a:p>
          <a:p>
            <a:r>
              <a:rPr lang="en-US" altLang="zh-CN" sz="800" dirty="0"/>
              <a:t>    if (it != teachingCourseIds.end()) {</a:t>
            </a:r>
          </a:p>
          <a:p>
            <a:r>
              <a:rPr lang="en-US" altLang="zh-CN" sz="800" dirty="0"/>
              <a:t>        teachingCourseIds.erase(it);</a:t>
            </a:r>
          </a:p>
          <a:p>
            <a:r>
              <a:rPr lang="en-US" altLang="zh-CN" sz="800" dirty="0"/>
              <a:t>    }</a:t>
            </a:r>
          </a:p>
          <a:p>
            <a:r>
              <a:rPr lang="en-US" altLang="zh-CN" sz="800" dirty="0" smtClean="0"/>
              <a:t>}</a:t>
            </a:r>
            <a:endParaRPr lang="en-US" altLang="zh-CN" sz="800" dirty="0"/>
          </a:p>
          <a:p>
            <a:r>
              <a:rPr lang="en-US" altLang="zh-CN" sz="800" dirty="0"/>
              <a:t>bool Teacher::isTeaching(const std::string&amp; courseId) const {</a:t>
            </a:r>
          </a:p>
          <a:p>
            <a:r>
              <a:rPr lang="en-US" altLang="zh-CN" sz="800" dirty="0"/>
              <a:t>    return std::find(teachingCourseIds.begin(), teachingCourseIds.end(), courseId)</a:t>
            </a:r>
          </a:p>
          <a:p>
            <a:r>
              <a:rPr lang="en-US" altLang="zh-CN" sz="800" dirty="0"/>
              <a:t>           != teachingCourseIds.end();</a:t>
            </a:r>
          </a:p>
          <a:p>
            <a:r>
              <a:rPr lang="en-US" altLang="zh-CN" sz="800" dirty="0"/>
              <a:t>}</a:t>
            </a:r>
            <a:endParaRPr lang="zh-CN" altLang="en-US" sz="800" dirty="0"/>
          </a:p>
        </p:txBody>
      </p:sp>
      <p:sp>
        <p:nvSpPr>
          <p:cNvPr id="9" name="矩形 8"/>
          <p:cNvSpPr/>
          <p:nvPr/>
        </p:nvSpPr>
        <p:spPr>
          <a:xfrm>
            <a:off x="8294077" y="3296681"/>
            <a:ext cx="336452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dirty="0"/>
              <a:t>1. </a:t>
            </a:r>
            <a:r>
              <a:rPr lang="zh-CN" altLang="en-US" sz="800" dirty="0"/>
              <a:t>教师类（</a:t>
            </a:r>
            <a:r>
              <a:rPr lang="en-US" altLang="zh-CN" sz="800" dirty="0"/>
              <a:t>Teacher</a:t>
            </a:r>
            <a:r>
              <a:rPr lang="zh-CN" altLang="en-US" sz="800" dirty="0"/>
              <a:t>）的完整实现：新增了 </a:t>
            </a:r>
            <a:r>
              <a:rPr lang="en-US" altLang="zh-CN" sz="800" dirty="0"/>
              <a:t>Teacher </a:t>
            </a:r>
            <a:r>
              <a:rPr lang="zh-CN" altLang="en-US" sz="800" dirty="0"/>
              <a:t>类，包含教师</a:t>
            </a:r>
            <a:r>
              <a:rPr lang="en-US" altLang="zh-CN" sz="800" dirty="0"/>
              <a:t>ID</a:t>
            </a:r>
            <a:r>
              <a:rPr lang="zh-CN" altLang="en-US" sz="800" dirty="0"/>
              <a:t>、姓名和授课课程列表属性，并实现了添加</a:t>
            </a:r>
            <a:r>
              <a:rPr lang="en-US" altLang="zh-CN" sz="800" dirty="0"/>
              <a:t>/</a:t>
            </a:r>
            <a:r>
              <a:rPr lang="zh-CN" altLang="en-US" sz="800" dirty="0"/>
              <a:t>移除授课课程、判断是否教授某课程以及获取授课列表等功能，完善了教师信息管理。</a:t>
            </a:r>
          </a:p>
          <a:p>
            <a:r>
              <a:rPr lang="en-US" altLang="zh-CN" sz="800" dirty="0"/>
              <a:t>2. </a:t>
            </a:r>
            <a:r>
              <a:rPr lang="zh-CN" altLang="en-US" sz="800" dirty="0"/>
              <a:t>课程与教师的关联：在 </a:t>
            </a:r>
            <a:r>
              <a:rPr lang="en-US" altLang="zh-CN" sz="800" dirty="0"/>
              <a:t>Course </a:t>
            </a:r>
            <a:r>
              <a:rPr lang="zh-CN" altLang="en-US" sz="800" dirty="0"/>
              <a:t>类中增加了 </a:t>
            </a:r>
            <a:r>
              <a:rPr lang="en-US" altLang="zh-CN" sz="800" dirty="0"/>
              <a:t>teacherId </a:t>
            </a:r>
            <a:r>
              <a:rPr lang="zh-CN" altLang="en-US" sz="800" dirty="0"/>
              <a:t>字段和 </a:t>
            </a:r>
            <a:r>
              <a:rPr lang="en-US" altLang="zh-CN" sz="800" dirty="0"/>
              <a:t>getTeacherId() </a:t>
            </a:r>
            <a:r>
              <a:rPr lang="zh-CN" altLang="en-US" sz="800" dirty="0"/>
              <a:t>方法，使课程能够关联授课教师，并在 </a:t>
            </a:r>
            <a:r>
              <a:rPr lang="en-US" altLang="zh-CN" sz="800" dirty="0"/>
              <a:t>toString() </a:t>
            </a:r>
            <a:r>
              <a:rPr lang="zh-CN" altLang="en-US" sz="800" dirty="0"/>
              <a:t>中显示教师信息。</a:t>
            </a:r>
          </a:p>
          <a:p>
            <a:r>
              <a:rPr lang="en-US" altLang="zh-CN" sz="800" dirty="0"/>
              <a:t>3. </a:t>
            </a:r>
            <a:r>
              <a:rPr lang="zh-CN" altLang="en-US" sz="800" dirty="0"/>
              <a:t>学生成绩管理功能：在 </a:t>
            </a:r>
            <a:r>
              <a:rPr lang="en-US" altLang="zh-CN" sz="800" dirty="0"/>
              <a:t>Student </a:t>
            </a:r>
            <a:r>
              <a:rPr lang="zh-CN" altLang="en-US" sz="800" dirty="0"/>
              <a:t>类中新增了 </a:t>
            </a:r>
            <a:r>
              <a:rPr lang="en-US" altLang="zh-CN" sz="800" dirty="0"/>
              <a:t>courseGrades </a:t>
            </a:r>
            <a:r>
              <a:rPr lang="zh-CN" altLang="en-US" sz="800" dirty="0"/>
              <a:t>映射表，实现了成绩的存储、设置、查询和状态检查（如 </a:t>
            </a:r>
            <a:r>
              <a:rPr lang="en-US" altLang="zh-CN" sz="800" dirty="0"/>
              <a:t>setGrade()</a:t>
            </a:r>
            <a:r>
              <a:rPr lang="zh-CN" altLang="en-US" sz="800" dirty="0"/>
              <a:t>、</a:t>
            </a:r>
            <a:r>
              <a:rPr lang="en-US" altLang="zh-CN" sz="800" dirty="0"/>
              <a:t>getGrade()</a:t>
            </a:r>
            <a:r>
              <a:rPr lang="zh-CN" altLang="en-US" sz="800" dirty="0"/>
              <a:t>、</a:t>
            </a:r>
            <a:r>
              <a:rPr lang="en-US" altLang="zh-CN" sz="800" dirty="0"/>
              <a:t>hasGrade()</a:t>
            </a:r>
            <a:r>
              <a:rPr lang="zh-CN" altLang="en-US" sz="800" dirty="0"/>
              <a:t>），支持完整的成绩管理流程。</a:t>
            </a:r>
          </a:p>
          <a:p>
            <a:r>
              <a:rPr lang="en-US" altLang="zh-CN" sz="800" dirty="0"/>
              <a:t>4. </a:t>
            </a:r>
            <a:r>
              <a:rPr lang="zh-CN" altLang="en-US" sz="800" dirty="0"/>
              <a:t>选课与成绩的联动逻辑：在 </a:t>
            </a:r>
            <a:r>
              <a:rPr lang="en-US" altLang="zh-CN" sz="800" dirty="0"/>
              <a:t>addCourse() </a:t>
            </a:r>
            <a:r>
              <a:rPr lang="zh-CN" altLang="en-US" sz="800" dirty="0"/>
              <a:t>和 </a:t>
            </a:r>
            <a:r>
              <a:rPr lang="en-US" altLang="zh-CN" sz="800" dirty="0"/>
              <a:t>removeCourse() </a:t>
            </a:r>
            <a:r>
              <a:rPr lang="zh-CN" altLang="en-US" sz="800" dirty="0"/>
              <a:t>方法中同步管理成绩记录，确保选课状态与成绩数据的一致</a:t>
            </a:r>
            <a:r>
              <a:rPr lang="zh-CN" altLang="en-US" sz="800" dirty="0" smtClean="0"/>
              <a:t>性</a:t>
            </a:r>
            <a:endParaRPr lang="en-US" altLang="zh-CN" sz="800" dirty="0" smtClean="0"/>
          </a:p>
        </p:txBody>
      </p:sp>
    </p:spTree>
    <p:extLst>
      <p:ext uri="{BB962C8B-B14F-4D97-AF65-F5344CB8AC3E}">
        <p14:creationId xmlns:p14="http://schemas.microsoft.com/office/powerpoint/2010/main" val="1764143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730" y="-455233"/>
            <a:ext cx="2797561" cy="36368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32760" y="0"/>
            <a:ext cx="473231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</a:rPr>
              <a:t>组员分工汇报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87787" y="936839"/>
            <a:ext cx="315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81B1CE"/>
                </a:solidFill>
              </a:rPr>
              <a:t>——</a:t>
            </a:r>
            <a:r>
              <a:rPr lang="zh-CN" altLang="en-US" sz="2000" b="1" dirty="0">
                <a:solidFill>
                  <a:srgbClr val="81B1CE"/>
                </a:solidFill>
              </a:rPr>
              <a:t>李卫</a:t>
            </a:r>
          </a:p>
        </p:txBody>
      </p:sp>
      <p:pic>
        <p:nvPicPr>
          <p:cNvPr id="4" name="图片 3" descr="7536e4e5ddd00a5f58cc67762fd3f4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" y="936625"/>
            <a:ext cx="3405505" cy="2318385"/>
          </a:xfrm>
          <a:prstGeom prst="rect">
            <a:avLst/>
          </a:prstGeom>
        </p:spPr>
      </p:pic>
      <p:pic>
        <p:nvPicPr>
          <p:cNvPr id="6" name="图片 5" descr="91fdd73fee2e736393e00cdfa5b080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5" y="3429000"/>
            <a:ext cx="3395345" cy="2477135"/>
          </a:xfrm>
          <a:prstGeom prst="rect">
            <a:avLst/>
          </a:prstGeom>
        </p:spPr>
      </p:pic>
      <p:pic>
        <p:nvPicPr>
          <p:cNvPr id="9" name="图片 8" descr="4cebe4570fb8eea7f234e458aa822d2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5990" y="1503680"/>
            <a:ext cx="3135630" cy="1970405"/>
          </a:xfrm>
          <a:prstGeom prst="rect">
            <a:avLst/>
          </a:prstGeom>
        </p:spPr>
      </p:pic>
      <p:pic>
        <p:nvPicPr>
          <p:cNvPr id="10" name="图片 9" descr="573ed6e44d7509abf92da208d45fea8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6950" y="3474085"/>
            <a:ext cx="3223895" cy="2892425"/>
          </a:xfrm>
          <a:prstGeom prst="rect">
            <a:avLst/>
          </a:prstGeom>
        </p:spPr>
      </p:pic>
      <p:pic>
        <p:nvPicPr>
          <p:cNvPr id="12" name="图片 11" descr="a9cc15105da255e94729a103aad8309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0845" y="1336675"/>
            <a:ext cx="3116580" cy="20434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33005" y="3616325"/>
            <a:ext cx="4170680" cy="810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完成了这些代码的接口，在业务逻辑上完成了代码的编写。</a:t>
            </a:r>
          </a:p>
          <a:p>
            <a:r>
              <a:rPr lang="zh-CN" altLang="en-US"/>
              <a:t>Domain（领域层）：定义最基础的数据实体。</a:t>
            </a:r>
          </a:p>
          <a:p>
            <a:r>
              <a:rPr lang="zh-CN" altLang="en-US"/>
              <a:t>DataLayer（数据层）：负责数据的存储和读取，这里我设计了接口来实现解耦。</a:t>
            </a:r>
          </a:p>
          <a:p>
            <a:r>
              <a:rPr lang="zh-CN" altLang="en-US"/>
              <a:t>LogicLayer（逻辑层）：处理核心业务逻辑，比如选课的规则判断。</a:t>
            </a:r>
          </a:p>
          <a:p>
            <a:r>
              <a:rPr lang="zh-CN" altLang="en-US"/>
              <a:t>P</a:t>
            </a:r>
            <a:r>
              <a:rPr lang="en-US" altLang="zh-CN"/>
              <a:t>r</a:t>
            </a:r>
            <a:r>
              <a:rPr lang="zh-CN" altLang="en-US"/>
              <a:t>esentation（表现层）：负责与用户的交互。 这种设计使得每一层各司其职，维护和扩展都非常方便。”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 advClick="0" advTm="5913">
        <p15:prstTrans prst="pageCurlDouble"/>
      </p:transition>
    </mc:Choice>
    <mc:Fallback>
      <p:transition spd="slow" advClick="0" advTm="5913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630" y="86360"/>
            <a:ext cx="4733925" cy="7715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835" y="768350"/>
            <a:ext cx="3162300" cy="409575"/>
          </a:xfrm>
          <a:prstGeom prst="rect">
            <a:avLst/>
          </a:prstGeom>
        </p:spPr>
      </p:pic>
      <p:pic>
        <p:nvPicPr>
          <p:cNvPr id="5" name="图片 4" descr="4924aedca19e05aa049be25e02e2ce6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" y="1177925"/>
            <a:ext cx="5701030" cy="838200"/>
          </a:xfrm>
          <a:prstGeom prst="rect">
            <a:avLst/>
          </a:prstGeom>
        </p:spPr>
      </p:pic>
      <p:pic>
        <p:nvPicPr>
          <p:cNvPr id="7" name="图片 6" descr="1f86d5ed22d32fbb5b1ccbf829a59c1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" y="2336165"/>
            <a:ext cx="5412105" cy="1250315"/>
          </a:xfrm>
          <a:prstGeom prst="rect">
            <a:avLst/>
          </a:prstGeom>
        </p:spPr>
      </p:pic>
      <p:pic>
        <p:nvPicPr>
          <p:cNvPr id="11" name="图片 10" descr="d5eca5de6be70c98648f9fe50075944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177925"/>
            <a:ext cx="4037965" cy="2732405"/>
          </a:xfrm>
          <a:prstGeom prst="rect">
            <a:avLst/>
          </a:prstGeom>
        </p:spPr>
      </p:pic>
      <p:pic>
        <p:nvPicPr>
          <p:cNvPr id="13" name="图片 12" descr="9a8c654e7ad1364d7cd699f5ed64a03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" y="4047490"/>
            <a:ext cx="5701030" cy="12973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574790" y="3910330"/>
            <a:ext cx="4642485" cy="1479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实现教学秘书功能：在表现层 (Presentation)，我通过交互菜单捕获用户输入的课程与教师ID；随即数据传至逻辑层 (Logic)，这里我利用抽象接口解耦了业务逻辑与底层存储；最后进入数据层 (Data)</a:t>
            </a: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3790" y="0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4400" b="1" dirty="0">
                <a:solidFill>
                  <a:srgbClr val="81B1CE"/>
                </a:solidFill>
                <a:sym typeface="+mn-ea"/>
              </a:rPr>
              <a:t>组员分工汇报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895" y="768350"/>
            <a:ext cx="3162300" cy="409575"/>
          </a:xfrm>
          <a:prstGeom prst="rect">
            <a:avLst/>
          </a:prstGeom>
        </p:spPr>
      </p:pic>
      <p:pic>
        <p:nvPicPr>
          <p:cNvPr id="4" name="图片 3" descr="3eba120f3f84448961569686d88d01a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" y="1177925"/>
            <a:ext cx="6068695" cy="7232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97650" y="1076960"/>
            <a:ext cx="4079240" cy="1113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首先，数据库的连接配置是在 Registrar 模块中统一管理的Connection String。这里定义了五个关键要素：dbname：我们要连的数据库叫 registrar。</a:t>
            </a:r>
          </a:p>
          <a:p>
            <a:r>
              <a:rPr lang="zh-CN" altLang="en-US"/>
              <a:t>user/password：这是数据库的通行证。</a:t>
            </a:r>
          </a:p>
          <a:p>
            <a:r>
              <a:rPr lang="zh-CN" altLang="en-US"/>
              <a:t>host/port：指定了数据库运行在本地 (127.0.0.1) 的 5432 端口。 我们将这个字符串注入到 PostgresDB 实例中，以此初始化整个数据层。”</a:t>
            </a:r>
          </a:p>
        </p:txBody>
      </p:sp>
      <p:pic>
        <p:nvPicPr>
          <p:cNvPr id="7" name="图片 6" descr="9dfa80cf0a189828404a565414b9cb2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05" y="2296795"/>
            <a:ext cx="5797550" cy="13690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01040" y="3665855"/>
            <a:ext cx="29527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pqxx::connection c(connStr)：这行代码建立了一条通往数据库的 TCP/IP 物理通道</a:t>
            </a:r>
          </a:p>
          <a:p>
            <a:r>
              <a:rPr lang="zh-CN" altLang="en-US"/>
              <a:t>pqxx::work w(c)：它在连接之上开启了一个 事务 (Transaction)。这意味着接下来的操作要么全部成功，要么全部失败</a:t>
            </a:r>
          </a:p>
        </p:txBody>
      </p:sp>
      <p:pic>
        <p:nvPicPr>
          <p:cNvPr id="10" name="图片 9" descr="628fd0e5686591b36f5d17540a972b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615" y="4576445"/>
            <a:ext cx="4627245" cy="11880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43905" y="57645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连接建立后，我们通过 w.exec() 方法发送标准的 SQL 语句给数据库执行。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5000">
        <p14:reveal/>
      </p:transition>
    </mc:Choice>
    <mc:Fallback xmlns="">
      <p:transition spd="slow" advClick="0" advTm="5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4835</Words>
  <Application>Microsoft Office PowerPoint</Application>
  <PresentationFormat>自定义</PresentationFormat>
  <Paragraphs>417</Paragraphs>
  <Slides>22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Microsoft Yi Baiti</vt:lpstr>
      <vt:lpstr>方正新综艺简体</vt:lpstr>
      <vt:lpstr>Calibri Light</vt:lpstr>
      <vt:lpstr>微软雅黑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xb21cn</cp:lastModifiedBy>
  <cp:revision>108</cp:revision>
  <dcterms:created xsi:type="dcterms:W3CDTF">2026-01-16T05:26:43Z</dcterms:created>
  <dcterms:modified xsi:type="dcterms:W3CDTF">2026-01-17T12:47:01Z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386D81F007D14DB1AAD2C6063D1F03F9</vt:lpwstr>
  </property>
  <property fmtid="{D5CDD505-2E9C-101B-9397-08002B2CF9AE}" pid="3" name="KSOProductBuildVer">
    <vt:lpwstr>2052-12.1.0.17900</vt:lpwstr>
  </property>
</Properties>
</file>